
<file path=[Content_Types].xml><?xml version="1.0" encoding="utf-8"?>
<Types xmlns="http://schemas.openxmlformats.org/package/2006/content-types">
  <Default Extension="jpeg" ContentType="image/jpeg"/>
  <Default Extension="JPG" ContentType="image/.jpg"/>
  <Default Extension="tiff" ContentType="image/tiff"/>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2.svg" ContentType="image/svg+xml"/>
  <Override PartName="/ppt/media/image14.svg" ContentType="image/svg+xml"/>
  <Override PartName="/ppt/media/image15.svg" ContentType="image/svg+xml"/>
  <Override PartName="/ppt/media/image21.svg" ContentType="image/svg+xml"/>
  <Override PartName="/ppt/media/image24.svg" ContentType="image/svg+xml"/>
  <Override PartName="/ppt/media/image28.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31"/>
  </p:handoutMasterIdLst>
  <p:sldIdLst>
    <p:sldId id="261" r:id="rId3"/>
    <p:sldId id="266" r:id="rId5"/>
    <p:sldId id="436" r:id="rId6"/>
    <p:sldId id="439" r:id="rId7"/>
    <p:sldId id="437" r:id="rId8"/>
    <p:sldId id="453" r:id="rId9"/>
    <p:sldId id="448" r:id="rId10"/>
    <p:sldId id="441" r:id="rId11"/>
    <p:sldId id="444" r:id="rId12"/>
    <p:sldId id="440" r:id="rId13"/>
    <p:sldId id="445" r:id="rId14"/>
    <p:sldId id="442" r:id="rId15"/>
    <p:sldId id="446" r:id="rId16"/>
    <p:sldId id="447" r:id="rId17"/>
    <p:sldId id="449" r:id="rId18"/>
    <p:sldId id="454" r:id="rId19"/>
    <p:sldId id="434" r:id="rId20"/>
    <p:sldId id="431" r:id="rId21"/>
    <p:sldId id="426" r:id="rId22"/>
    <p:sldId id="432" r:id="rId23"/>
    <p:sldId id="427" r:id="rId24"/>
    <p:sldId id="433" r:id="rId25"/>
    <p:sldId id="435" r:id="rId26"/>
    <p:sldId id="450" r:id="rId27"/>
    <p:sldId id="451" r:id="rId28"/>
    <p:sldId id="452" r:id="rId29"/>
    <p:sldId id="371" r:id="rId30"/>
  </p:sldIdLst>
  <p:sldSz cx="12192000" cy="6858000"/>
  <p:notesSz cx="6858000" cy="9144000"/>
  <p:custDataLst>
    <p:tags r:id="rId3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徐小欢" initials="徐小欢"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0D0B"/>
    <a:srgbClr val="C21C1C"/>
    <a:srgbClr val="CB1313"/>
    <a:srgbClr val="DB1F1F"/>
    <a:srgbClr val="E12F2F"/>
    <a:srgbClr val="1A1A1B"/>
    <a:srgbClr val="313134"/>
    <a:srgbClr val="181819"/>
    <a:srgbClr val="A50A09"/>
    <a:srgbClr val="DF393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p:restoredTop sz="94270" autoAdjust="0"/>
  </p:normalViewPr>
  <p:slideViewPr>
    <p:cSldViewPr snapToGrid="0">
      <p:cViewPr varScale="1">
        <p:scale>
          <a:sx n="90" d="100"/>
          <a:sy n="90" d="100"/>
        </p:scale>
        <p:origin x="928" y="64"/>
      </p:cViewPr>
      <p:guideLst/>
    </p:cSldViewPr>
  </p:slideViewPr>
  <p:outlineViewPr>
    <p:cViewPr>
      <p:scale>
        <a:sx n="33" d="100"/>
        <a:sy n="33" d="100"/>
      </p:scale>
      <p:origin x="0" y="0"/>
    </p:cViewPr>
  </p:outlineViewPr>
  <p:notesTextViewPr>
    <p:cViewPr>
      <p:scale>
        <a:sx n="20" d="100"/>
        <a:sy n="2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6" Type="http://schemas.openxmlformats.org/officeDocument/2006/relationships/tags" Target="tags/tag1.xml"/><Relationship Id="rId35" Type="http://schemas.openxmlformats.org/officeDocument/2006/relationships/commentAuthors" Target="commentAuthors.xml"/><Relationship Id="rId34" Type="http://schemas.openxmlformats.org/officeDocument/2006/relationships/tableStyles" Target="tableStyles.xml"/><Relationship Id="rId33" Type="http://schemas.openxmlformats.org/officeDocument/2006/relationships/viewProps" Target="viewProps.xml"/><Relationship Id="rId32" Type="http://schemas.openxmlformats.org/officeDocument/2006/relationships/presProps" Target="presProps.xml"/><Relationship Id="rId31" Type="http://schemas.openxmlformats.org/officeDocument/2006/relationships/handoutMaster" Target="handoutMasters/handoutMaster1.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zh-CN" altLang="en-US"/>
              <a:t>网易内部资料，请勿外传</a:t>
            </a:r>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726E12E-97A2-40B7-A362-065E30B989D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zh-CN" altLang="en-US"/>
              <a:t>网易内部资料，请勿外传</a:t>
            </a:r>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C43C561-CBA4-45D6-BD55-1C5FFEC03467}" type="slidenum">
              <a:rPr lang="zh-CN" altLang="en-US" smtClean="0"/>
            </a:fld>
            <a:endParaRPr lang="zh-CN" altLang="en-US"/>
          </a:p>
        </p:txBody>
      </p:sp>
    </p:spTree>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defRPr>
            </a:lvl1pPr>
          </a:lstStyle>
          <a:p>
            <a:fld id="{659CD4FC-624D-AB4E-9533-E6A468B0E056}" type="datetimeFigureOut">
              <a:rPr kumimoji="1" lang="zh-CN" altLang="en-US" smtClean="0"/>
            </a:fld>
            <a:endParaRPr kumimoji="1"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zh-CN" altLang="en-US"/>
              <a:t>编辑母版文本样式
第二级
第三级
第四级
第五级</a:t>
            </a:r>
            <a:endParaRPr kumimoji="1"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defRPr>
            </a:lvl1pPr>
          </a:lstStyle>
          <a:p>
            <a:fld id="{8D024F85-CB1C-7445-9B98-7B8479DF2CF8}" type="slidenum">
              <a:rPr kumimoji="1" lang="zh-CN" altLang="en-US" smtClean="0"/>
            </a:fld>
            <a:endParaRPr kumimoji="1" lang="zh-CN" altLang="en-US" dirty="0"/>
          </a:p>
        </p:txBody>
      </p:sp>
    </p:spTree>
  </p:cSld>
  <p:clrMap bg1="lt1" tx1="dk1" bg2="lt2" tx2="dk2" accent1="accent1" accent2="accent2" accent3="accent3" accent4="accent4" accent5="accent5" accent6="accent6" hlink="hlink" folHlink="folHlink"/>
  <p:hf dt="0"/>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microsoft.com/office/2007/relationships/hdphoto" Target="../media/image7.wdp"/><Relationship Id="rId4" Type="http://schemas.openxmlformats.org/officeDocument/2006/relationships/image" Target="../media/image6.png"/><Relationship Id="rId3" Type="http://schemas.microsoft.com/office/2007/relationships/hdphoto" Target="../media/image5.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4"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背景-红色1">
    <p:spTree>
      <p:nvGrpSpPr>
        <p:cNvPr id="1" name=""/>
        <p:cNvGrpSpPr/>
        <p:nvPr/>
      </p:nvGrpSpPr>
      <p:grpSpPr>
        <a:xfrm>
          <a:off x="0" y="0"/>
          <a:ext cx="0" cy="0"/>
          <a:chOff x="0" y="0"/>
          <a:chExt cx="0" cy="0"/>
        </a:xfrm>
      </p:grpSpPr>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背景-红色2">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stretch>
            <a:fillRect/>
          </a:stretch>
        </p:blipFill>
        <p:spPr>
          <a:xfrm>
            <a:off x="-12533" y="0"/>
            <a:ext cx="12204533"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背景-红色3">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背景-红色4">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背景-红色热爱">
    <p:bg>
      <p:bgPr>
        <a:solidFill>
          <a:srgbClr val="A80D0B"/>
        </a:solidFill>
        <a:effectLst/>
      </p:bgPr>
    </p:bg>
    <p:spTree>
      <p:nvGrpSpPr>
        <p:cNvPr id="1" name=""/>
        <p:cNvGrpSpPr/>
        <p:nvPr/>
      </p:nvGrpSpPr>
      <p:grpSpPr>
        <a:xfrm>
          <a:off x="0" y="0"/>
          <a:ext cx="0" cy="0"/>
          <a:chOff x="0" y="0"/>
          <a:chExt cx="0" cy="0"/>
        </a:xfrm>
      </p:grpSpPr>
      <p:grpSp>
        <p:nvGrpSpPr>
          <p:cNvPr id="3" name="组合 2"/>
          <p:cNvGrpSpPr/>
          <p:nvPr userDrawn="1"/>
        </p:nvGrpSpPr>
        <p:grpSpPr>
          <a:xfrm>
            <a:off x="169819" y="0"/>
            <a:ext cx="12018615" cy="6858000"/>
            <a:chOff x="63375" y="-155701"/>
            <a:chExt cx="12018615" cy="6858000"/>
          </a:xfrm>
        </p:grpSpPr>
        <p:pic>
          <p:nvPicPr>
            <p:cNvPr id="5" name="图片 4"/>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15000"/>
                      </a14:imgEffect>
                    </a14:imgLayer>
                  </a14:imgProps>
                </a:ext>
                <a:ext uri="{28A0092B-C50C-407E-A947-70E740481C1C}">
                  <a14:useLocalDpi xmlns:a14="http://schemas.microsoft.com/office/drawing/2010/main" val="0"/>
                </a:ext>
              </a:extLst>
            </a:blip>
            <a:srcRect t="4820"/>
            <a:stretch>
              <a:fillRect/>
            </a:stretch>
          </p:blipFill>
          <p:spPr>
            <a:xfrm>
              <a:off x="63375" y="-155701"/>
              <a:ext cx="5800210" cy="6013009"/>
            </a:xfrm>
            <a:prstGeom prst="rect">
              <a:avLst/>
            </a:prstGeom>
          </p:spPr>
        </p:pic>
        <p:pic>
          <p:nvPicPr>
            <p:cNvPr id="6" name="图片 5"/>
            <p:cNvPicPr>
              <a:picLocks noChangeAspect="1"/>
            </p:cNvPicPr>
            <p:nvPr/>
          </p:nvPicPr>
          <p:blipFill>
            <a:blip r:embed="rId4">
              <a:extLst>
                <a:ext uri="{BEBA8EAE-BF5A-486C-A8C5-ECC9F3942E4B}">
                  <a14:imgProps xmlns:a14="http://schemas.microsoft.com/office/drawing/2010/main">
                    <a14:imgLayer r:embed="rId5">
                      <a14:imgEffect>
                        <a14:brightnessContrast bright="15000"/>
                      </a14:imgEffect>
                    </a14:imgLayer>
                  </a14:imgProps>
                </a:ext>
                <a:ext uri="{28A0092B-C50C-407E-A947-70E740481C1C}">
                  <a14:useLocalDpi xmlns:a14="http://schemas.microsoft.com/office/drawing/2010/main" val="0"/>
                </a:ext>
              </a:extLst>
            </a:blip>
            <a:stretch>
              <a:fillRect/>
            </a:stretch>
          </p:blipFill>
          <p:spPr>
            <a:xfrm>
              <a:off x="6936736" y="876394"/>
              <a:ext cx="5145254" cy="5825905"/>
            </a:xfrm>
            <a:prstGeom prst="rect">
              <a:avLst/>
            </a:prstGeom>
          </p:spPr>
        </p:pic>
      </p:grpSp>
      <p:sp>
        <p:nvSpPr>
          <p:cNvPr id="7"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9"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背景-红色大楼">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日期占位符 1"/>
          <p:cNvSpPr>
            <a:spLocks noGrp="1"/>
          </p:cNvSpPr>
          <p:nvPr>
            <p:ph type="dt" sz="half" idx="10"/>
          </p:nvPr>
        </p:nvSpPr>
        <p:spPr/>
        <p:txBody>
          <a:bodyPr/>
          <a:lstStyle/>
          <a:p>
            <a:endParaRPr lang="zh-CN" altLang="en-US" dirty="0"/>
          </a:p>
        </p:txBody>
      </p:sp>
      <p:sp>
        <p:nvSpPr>
          <p:cNvPr id="4" name="灯片编号占位符 3"/>
          <p:cNvSpPr>
            <a:spLocks noGrp="1"/>
          </p:cNvSpPr>
          <p:nvPr>
            <p:ph type="sldNum" sz="quarter" idx="12"/>
          </p:nvPr>
        </p:nvSpPr>
        <p:spPr/>
        <p:txBody>
          <a:bodyPr/>
          <a:lstStyle/>
          <a:p>
            <a:endParaRPr lang="zh-CN" altLang="en-US" dirty="0"/>
          </a:p>
        </p:txBody>
      </p:sp>
      <p:sp>
        <p:nvSpPr>
          <p:cNvPr id="8" name="灯片编号占位符 5"/>
          <p:cNvSpPr txBox="1"/>
          <p:nvPr userDrawn="1"/>
        </p:nvSpPr>
        <p:spPr>
          <a:xfrm>
            <a:off x="8763000" y="65087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A4A7191-98FC-4568-95DD-ED3C44E606AA}" type="slidenum">
              <a:rPr lang="zh-CN" altLang="en-US" smtClean="0"/>
            </a:fld>
            <a:endParaRPr lang="zh-CN" altLang="en-US"/>
          </a:p>
        </p:txBody>
      </p:sp>
      <p:sp>
        <p:nvSpPr>
          <p:cNvPr id="9" name="文本框 8"/>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背景-黑色2">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2"/>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2"/>
                </a:solidFill>
              </a:defRPr>
            </a:lvl1pPr>
          </a:lstStyle>
          <a:p>
            <a:fld id="{5A4A7191-98FC-4568-95DD-ED3C44E606AA}" type="slidenum">
              <a:rPr lang="zh-CN" altLang="en-US" smtClean="0"/>
            </a:fld>
            <a:endParaRPr lang="zh-CN" altLang="en-US" dirty="0"/>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0.tiff"/></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2.svg"/><Relationship Id="rId1" Type="http://schemas.openxmlformats.org/officeDocument/2006/relationships/image" Target="../media/image11.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14.svg"/><Relationship Id="rId2" Type="http://schemas.openxmlformats.org/officeDocument/2006/relationships/image" Target="../media/image19.png"/><Relationship Id="rId1" Type="http://schemas.openxmlformats.org/officeDocument/2006/relationships/image" Target="../media/image18.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23.png"/><Relationship Id="rId2" Type="http://schemas.openxmlformats.org/officeDocument/2006/relationships/image" Target="../media/image14.sv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xml"/><Relationship Id="rId4" Type="http://schemas.openxmlformats.org/officeDocument/2006/relationships/image" Target="../media/image25.png"/><Relationship Id="rId3" Type="http://schemas.openxmlformats.org/officeDocument/2006/relationships/image" Target="../media/image22.png"/><Relationship Id="rId2" Type="http://schemas.openxmlformats.org/officeDocument/2006/relationships/image" Target="../media/image24.sv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27.png"/><Relationship Id="rId2" Type="http://schemas.openxmlformats.org/officeDocument/2006/relationships/image" Target="../media/image21.svg"/><Relationship Id="rId1" Type="http://schemas.openxmlformats.org/officeDocument/2006/relationships/image" Target="../media/image26.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24.svg"/><Relationship Id="rId1" Type="http://schemas.openxmlformats.org/officeDocument/2006/relationships/image" Target="../media/image26.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28.svg"/><Relationship Id="rId1"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0.png"/><Relationship Id="rId2" Type="http://schemas.openxmlformats.org/officeDocument/2006/relationships/image" Target="../media/image21.sv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1.png"/><Relationship Id="rId2" Type="http://schemas.openxmlformats.org/officeDocument/2006/relationships/image" Target="../media/image15.svg"/><Relationship Id="rId1" Type="http://schemas.openxmlformats.org/officeDocument/2006/relationships/image" Target="../media/image26.pn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2.png"/><Relationship Id="rId2" Type="http://schemas.openxmlformats.org/officeDocument/2006/relationships/image" Target="../media/image14.svg"/><Relationship Id="rId1" Type="http://schemas.openxmlformats.org/officeDocument/2006/relationships/image" Target="../media/image26.png"/></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3.png"/><Relationship Id="rId2" Type="http://schemas.openxmlformats.org/officeDocument/2006/relationships/image" Target="../media/image15.svg"/><Relationship Id="rId1" Type="http://schemas.openxmlformats.org/officeDocument/2006/relationships/image" Target="../media/image26.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4.png"/><Relationship Id="rId2" Type="http://schemas.openxmlformats.org/officeDocument/2006/relationships/image" Target="../media/image14.svg"/><Relationship Id="rId1" Type="http://schemas.openxmlformats.org/officeDocument/2006/relationships/image" Target="../media/image26.png"/></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5.png"/><Relationship Id="rId2" Type="http://schemas.openxmlformats.org/officeDocument/2006/relationships/image" Target="../media/image21.svg"/><Relationship Id="rId1"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1.svg"/><Relationship Id="rId1"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1.svg"/><Relationship Id="rId1" Type="http://schemas.openxmlformats.org/officeDocument/2006/relationships/image" Target="../media/image26.pn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7.xml"/><Relationship Id="rId2" Type="http://schemas.openxmlformats.org/officeDocument/2006/relationships/image" Target="../media/image37.svg"/><Relationship Id="rId1"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4730"/>
          </a:xfrm>
          <a:prstGeom prst="rect">
            <a:avLst/>
          </a:prstGeom>
          <a:noFill/>
        </p:spPr>
        <p:txBody>
          <a:bodyPr wrap="square" rtlCol="0">
            <a:spAutoFit/>
          </a:bodyPr>
          <a:lstStyle/>
          <a:p>
            <a:pPr algn="ctr"/>
            <a:r>
              <a:rPr lang="zh-CN" altLang="en-US" sz="6000" b="1" dirty="0">
                <a:solidFill>
                  <a:schemeClr val="bg1"/>
                </a:solidFill>
                <a:latin typeface="微软雅黑" panose="020B0503020204020204" pitchFamily="34" charset="-122"/>
                <a:ea typeface="微软雅黑" panose="020B0503020204020204" pitchFamily="34" charset="-122"/>
              </a:rPr>
              <a:t>实习成果</a:t>
            </a:r>
            <a:r>
              <a:rPr lang="en-US" altLang="zh-CN" sz="6000" b="1" dirty="0">
                <a:solidFill>
                  <a:schemeClr val="bg1"/>
                </a:solidFill>
                <a:latin typeface="微软雅黑" panose="020B0503020204020204" pitchFamily="34" charset="-122"/>
                <a:ea typeface="微软雅黑" panose="020B0503020204020204" pitchFamily="34" charset="-122"/>
              </a:rPr>
              <a:t>review</a:t>
            </a:r>
            <a:endParaRPr kumimoji="1" lang="zh-CN" altLang="en-US" sz="6000" b="1"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1493865" y="3690497"/>
            <a:ext cx="8293769" cy="398780"/>
          </a:xfrm>
          <a:prstGeom prst="rect">
            <a:avLst/>
          </a:prstGeom>
          <a:noFill/>
        </p:spPr>
        <p:txBody>
          <a:bodyPr wrap="square" rtlCol="0">
            <a:spAutoFit/>
          </a:bodyPr>
          <a:lstStyle/>
          <a:p>
            <a:r>
              <a:rPr kumimoji="1" lang="zh-CN" altLang="en-US" sz="2000" spc="100" dirty="0">
                <a:solidFill>
                  <a:schemeClr val="bg1"/>
                </a:solidFill>
                <a:latin typeface="微软雅黑" panose="020B0503020204020204" pitchFamily="34" charset="-122"/>
                <a:ea typeface="微软雅黑" panose="020B0503020204020204" pitchFamily="34" charset="-122"/>
              </a:rPr>
              <a:t>基于</a:t>
            </a:r>
            <a:r>
              <a:rPr kumimoji="1" lang="en-US" altLang="zh-CN" sz="2000" spc="100" dirty="0">
                <a:solidFill>
                  <a:schemeClr val="bg1"/>
                </a:solidFill>
                <a:latin typeface="微软雅黑" panose="020B0503020204020204" pitchFamily="34" charset="-122"/>
                <a:ea typeface="微软雅黑" panose="020B0503020204020204" pitchFamily="34" charset="-122"/>
              </a:rPr>
              <a:t>C+Lua</a:t>
            </a:r>
            <a:r>
              <a:rPr kumimoji="1" lang="zh-CN" altLang="en-US" sz="2000" spc="100" dirty="0">
                <a:solidFill>
                  <a:schemeClr val="bg1"/>
                </a:solidFill>
                <a:latin typeface="微软雅黑" panose="020B0503020204020204" pitchFamily="34" charset="-122"/>
                <a:ea typeface="微软雅黑" panose="020B0503020204020204" pitchFamily="34" charset="-122"/>
              </a:rPr>
              <a:t>的共享内存实现</a:t>
            </a:r>
            <a:endParaRPr kumimoji="1" lang="zh-CN" altLang="en-US" sz="2000" spc="100" dirty="0">
              <a:solidFill>
                <a:schemeClr val="bg1"/>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721980" y="4293258"/>
            <a:ext cx="4531659" cy="583565"/>
          </a:xfrm>
          <a:prstGeom prst="rect">
            <a:avLst/>
          </a:prstGeom>
          <a:noFill/>
        </p:spPr>
        <p:txBody>
          <a:bodyPr wrap="square" rtlCol="0">
            <a:spAutoFit/>
          </a:bodyPr>
          <a:lstStyle/>
          <a:p>
            <a:r>
              <a:rPr kumimoji="1" lang="zh-CN" altLang="en-US" sz="1600" dirty="0">
                <a:solidFill>
                  <a:schemeClr val="bg1"/>
                </a:solidFill>
                <a:latin typeface="+mj-ea"/>
                <a:ea typeface="+mj-ea"/>
              </a:rPr>
              <a:t>刘淩峰</a:t>
            </a:r>
            <a:r>
              <a:rPr kumimoji="1" lang="en-US" altLang="zh-CN" sz="1600" dirty="0">
                <a:solidFill>
                  <a:schemeClr val="bg1"/>
                </a:solidFill>
                <a:latin typeface="+mj-ea"/>
                <a:ea typeface="+mj-ea"/>
              </a:rPr>
              <a:t>-</a:t>
            </a:r>
            <a:r>
              <a:rPr kumimoji="1" lang="zh-CN" altLang="en-US" sz="1600" dirty="0">
                <a:solidFill>
                  <a:schemeClr val="bg1"/>
                </a:solidFill>
                <a:latin typeface="+mj-ea"/>
                <a:ea typeface="+mj-ea"/>
              </a:rPr>
              <a:t>大话事业部</a:t>
            </a:r>
            <a:endParaRPr kumimoji="1" lang="en-US" altLang="zh-CN" sz="1600" dirty="0">
              <a:solidFill>
                <a:schemeClr val="bg1"/>
              </a:solidFill>
              <a:latin typeface="+mj-ea"/>
              <a:ea typeface="+mj-ea"/>
            </a:endParaRPr>
          </a:p>
          <a:p>
            <a:r>
              <a:rPr kumimoji="1" lang="en-US" altLang="zh-CN" sz="1600" dirty="0">
                <a:solidFill>
                  <a:schemeClr val="bg1"/>
                </a:solidFill>
                <a:latin typeface="+mj-ea"/>
                <a:ea typeface="+mj-ea"/>
              </a:rPr>
              <a:t>2025</a:t>
            </a:r>
            <a:r>
              <a:rPr kumimoji="1" lang="zh-CN" altLang="en-US" sz="1600" dirty="0">
                <a:solidFill>
                  <a:schemeClr val="bg1"/>
                </a:solidFill>
                <a:latin typeface="+mj-ea"/>
                <a:ea typeface="+mj-ea"/>
              </a:rPr>
              <a:t>年</a:t>
            </a:r>
            <a:r>
              <a:rPr kumimoji="1" lang="en-US" altLang="zh-CN" sz="1600" dirty="0">
                <a:solidFill>
                  <a:schemeClr val="bg1"/>
                </a:solidFill>
                <a:latin typeface="+mj-ea"/>
                <a:ea typeface="+mj-ea"/>
              </a:rPr>
              <a:t>9</a:t>
            </a:r>
            <a:r>
              <a:rPr kumimoji="1" lang="zh-CN" altLang="en-US" sz="1600" dirty="0">
                <a:solidFill>
                  <a:schemeClr val="bg1"/>
                </a:solidFill>
                <a:latin typeface="+mj-ea"/>
                <a:ea typeface="+mj-ea"/>
              </a:rPr>
              <a:t>月</a:t>
            </a:r>
            <a:r>
              <a:rPr kumimoji="1" lang="en-US" altLang="zh-CN" sz="1600" dirty="0">
                <a:solidFill>
                  <a:schemeClr val="bg1"/>
                </a:solidFill>
                <a:latin typeface="+mj-ea"/>
                <a:ea typeface="+mj-ea"/>
              </a:rPr>
              <a:t>15</a:t>
            </a:r>
            <a:r>
              <a:rPr kumimoji="1" lang="zh-CN" altLang="en-US" sz="1600" dirty="0">
                <a:solidFill>
                  <a:schemeClr val="bg1"/>
                </a:solidFill>
                <a:latin typeface="+mj-ea"/>
                <a:ea typeface="+mj-ea"/>
              </a:rPr>
              <a:t>日</a:t>
            </a:r>
            <a:endParaRPr kumimoji="1" lang="zh-CN" altLang="en-US" sz="1600" dirty="0">
              <a:solidFill>
                <a:schemeClr val="bg1"/>
              </a:solidFill>
              <a:latin typeface="+mj-ea"/>
              <a:ea typeface="+mj-ea"/>
            </a:endParaRPr>
          </a:p>
        </p:txBody>
      </p:sp>
      <p:cxnSp>
        <p:nvCxnSpPr>
          <p:cNvPr id="11" name="直线连接符 10"/>
          <p:cNvCxnSpPr/>
          <p:nvPr/>
        </p:nvCxnSpPr>
        <p:spPr>
          <a:xfrm>
            <a:off x="1608060" y="4363295"/>
            <a:ext cx="0" cy="413100"/>
          </a:xfrm>
          <a:prstGeom prst="line">
            <a:avLst/>
          </a:prstGeom>
          <a:ln w="0">
            <a:solidFill>
              <a:schemeClr val="bg1"/>
            </a:solidFill>
            <a:roun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p:nvPicPr>
        <p:blipFill>
          <a:blip r:embed="rId1"/>
          <a:stretch>
            <a:fillRect/>
          </a:stretch>
        </p:blipFill>
        <p:spPr>
          <a:xfrm>
            <a:off x="10955046" y="6430129"/>
            <a:ext cx="747798" cy="139201"/>
          </a:xfrm>
          <a:prstGeom prst="rect">
            <a:avLst/>
          </a:prstGeom>
        </p:spPr>
      </p:pic>
      <p:pic>
        <p:nvPicPr>
          <p:cNvPr id="21" name="Picture 20"/>
          <p:cNvPicPr>
            <a:picLocks noChangeAspect="1"/>
          </p:cNvPicPr>
          <p:nvPr/>
        </p:nvPicPr>
        <p:blipFill>
          <a:blip/>
          <a:stretch>
            <a:fillRect/>
          </a:stretch>
        </p:blipFill>
        <p:spPr>
          <a:xfrm>
            <a:off x="0" y="0"/>
            <a:ext cx="12700" cy="12700"/>
          </a:xfrm>
          <a:prstGeom prst="rect">
            <a:avLst/>
          </a:prstGeom>
        </p:spPr>
      </p:pic>
      <p:pic>
        <p:nvPicPr>
          <p:cNvPr id="22" name="Picture 21"/>
          <p:cNvPicPr>
            <a:picLocks noChangeAspect="1"/>
          </p:cNvPicPr>
          <p:nvPr/>
        </p:nvPicPr>
        <p:blipFill>
          <a:blip/>
          <a:stretch>
            <a:fillRect/>
          </a:stretch>
        </p:blipFill>
        <p:spPr>
          <a:xfrm>
            <a:off x="0" y="0"/>
            <a:ext cx="0" cy="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一、项目介绍</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项目介绍</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486535"/>
            <a:ext cx="10336530" cy="22688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本项目能够在不同进程的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虚拟机间，共享一个只读的，类似原生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的数据结构，从而减少内存占用。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这个数据结构需要预先由</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转换而来并写入文件，然后映射到共享内存访问。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使用例：</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780415" y="3755390"/>
            <a:ext cx="5925185" cy="24803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二、设计思路</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所用到的数据结构是一个树形结构。</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对于树上的每个非叶子节点，它的子树代表一个</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；每条出边都是</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的一个</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，指向的子节点为</a:t>
            </a:r>
            <a:r>
              <a:rPr kumimoji="1" lang="en-US" altLang="zh-CN" dirty="0">
                <a:latin typeface="微软雅黑" panose="020B0503020204020204" pitchFamily="34" charset="-122"/>
                <a:ea typeface="微软雅黑" panose="020B0503020204020204" pitchFamily="34" charset="-122"/>
              </a:rPr>
              <a:t>value</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对于叶子节点，它们存储</a:t>
            </a:r>
            <a:r>
              <a:rPr kumimoji="1" lang="en-US" altLang="zh-CN" dirty="0">
                <a:latin typeface="微软雅黑" panose="020B0503020204020204" pitchFamily="34" charset="-122"/>
                <a:ea typeface="微软雅黑" panose="020B0503020204020204" pitchFamily="34" charset="-122"/>
              </a:rPr>
              <a:t>string/int/double/boolean</a:t>
            </a:r>
            <a:r>
              <a:rPr kumimoji="1" lang="zh-CN" altLang="en-US" dirty="0">
                <a:latin typeface="微软雅黑" panose="020B0503020204020204" pitchFamily="34" charset="-122"/>
                <a:ea typeface="微软雅黑" panose="020B0503020204020204" pitchFamily="34" charset="-122"/>
              </a:rPr>
              <a:t>类型的数据。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具体地，数据并不存储在节点</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边结构体中；有一段专门存放数据的区域</a:t>
            </a:r>
            <a:r>
              <a:rPr kumimoji="1" lang="en-US" altLang="zh-CN" dirty="0">
                <a:latin typeface="微软雅黑" panose="020B0503020204020204" pitchFamily="34" charset="-122"/>
                <a:ea typeface="微软雅黑" panose="020B0503020204020204" pitchFamily="34" charset="-122"/>
              </a:rPr>
              <a:t>sData</a:t>
            </a:r>
            <a:r>
              <a:rPr kumimoji="1" lang="zh-CN" altLang="en-US" dirty="0">
                <a:latin typeface="微软雅黑" panose="020B0503020204020204" pitchFamily="34" charset="-122"/>
                <a:ea typeface="微软雅黑" panose="020B0503020204020204" pitchFamily="34" charset="-122"/>
              </a:rPr>
              <a:t>，结构体只记录自身数据位置相对这个区域起始位置的偏移量和存储的数据类型。</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7" name="图片 6"/>
          <p:cNvPicPr>
            <a:picLocks noChangeAspect="1"/>
          </p:cNvPicPr>
          <p:nvPr/>
        </p:nvPicPr>
        <p:blipFill>
          <a:blip r:embed="rId3"/>
          <a:stretch>
            <a:fillRect/>
          </a:stretch>
        </p:blipFill>
        <p:spPr>
          <a:xfrm>
            <a:off x="362200" y="4523710"/>
            <a:ext cx="4657767" cy="1659949"/>
          </a:xfrm>
          <a:prstGeom prst="rect">
            <a:avLst/>
          </a:prstGeom>
        </p:spPr>
      </p:pic>
      <p:pic>
        <p:nvPicPr>
          <p:cNvPr id="9" name="图片 8"/>
          <p:cNvPicPr>
            <a:picLocks noChangeAspect="1"/>
          </p:cNvPicPr>
          <p:nvPr/>
        </p:nvPicPr>
        <p:blipFill>
          <a:blip r:embed="rId4"/>
          <a:stretch>
            <a:fillRect/>
          </a:stretch>
        </p:blipFill>
        <p:spPr>
          <a:xfrm>
            <a:off x="5282919" y="4418103"/>
            <a:ext cx="6408739" cy="17655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nvPicPr>
        <p:blipFill>
          <a:blip r:embed="rId1"/>
          <a:stretch>
            <a:fillRect/>
          </a:stretch>
        </p:blipFill>
        <p:spPr>
          <a:xfrm>
            <a:off x="4628515" y="699770"/>
            <a:ext cx="6800850" cy="5457825"/>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3" name="文本框 2"/>
          <p:cNvSpPr txBox="1"/>
          <p:nvPr/>
        </p:nvSpPr>
        <p:spPr>
          <a:xfrm>
            <a:off x="8244205" y="77152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554595" y="207200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8941435" y="192024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4517390"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
        <p:nvSpPr>
          <p:cNvPr id="14" name="文本框 13"/>
          <p:cNvSpPr txBox="1"/>
          <p:nvPr/>
        </p:nvSpPr>
        <p:spPr>
          <a:xfrm>
            <a:off x="4628515" y="446913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15" name="文本框 14"/>
          <p:cNvSpPr txBox="1"/>
          <p:nvPr/>
        </p:nvSpPr>
        <p:spPr>
          <a:xfrm>
            <a:off x="638302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10</a:t>
            </a:r>
            <a:endParaRPr kumimoji="1" lang="en-US" altLang="zh-CN" dirty="0">
              <a:latin typeface="微软雅黑" panose="020B0503020204020204" pitchFamily="34" charset="-122"/>
              <a:ea typeface="微软雅黑" panose="020B0503020204020204" pitchFamily="34" charset="-122"/>
            </a:endParaRPr>
          </a:p>
        </p:txBody>
      </p:sp>
      <p:sp>
        <p:nvSpPr>
          <p:cNvPr id="16" name="文本框 15"/>
          <p:cNvSpPr txBox="1"/>
          <p:nvPr/>
        </p:nvSpPr>
        <p:spPr>
          <a:xfrm>
            <a:off x="749681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15</a:t>
            </a:r>
            <a:endParaRPr kumimoji="1" lang="en-US" altLang="zh-CN" dirty="0">
              <a:latin typeface="微软雅黑" panose="020B0503020204020204" pitchFamily="34" charset="-122"/>
              <a:ea typeface="微软雅黑" panose="020B0503020204020204" pitchFamily="34" charset="-122"/>
            </a:endParaRPr>
          </a:p>
        </p:txBody>
      </p:sp>
      <p:sp>
        <p:nvSpPr>
          <p:cNvPr id="17" name="文本框 16"/>
          <p:cNvSpPr txBox="1"/>
          <p:nvPr/>
        </p:nvSpPr>
        <p:spPr>
          <a:xfrm>
            <a:off x="8687435"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20</a:t>
            </a:r>
            <a:endParaRPr kumimoji="1" lang="en-US" altLang="zh-CN" dirty="0">
              <a:latin typeface="微软雅黑" panose="020B0503020204020204" pitchFamily="34" charset="-122"/>
              <a:ea typeface="微软雅黑" panose="020B0503020204020204" pitchFamily="34" charset="-122"/>
            </a:endParaRPr>
          </a:p>
        </p:txBody>
      </p:sp>
      <p:sp>
        <p:nvSpPr>
          <p:cNvPr id="18" name="文本框 17"/>
          <p:cNvSpPr txBox="1"/>
          <p:nvPr/>
        </p:nvSpPr>
        <p:spPr>
          <a:xfrm>
            <a:off x="987806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30</a:t>
            </a:r>
            <a:endParaRPr kumimoji="1" lang="en-US" altLang="zh-CN" dirty="0">
              <a:latin typeface="微软雅黑" panose="020B0503020204020204" pitchFamily="34" charset="-122"/>
              <a:ea typeface="微软雅黑" panose="020B0503020204020204" pitchFamily="34" charset="-122"/>
            </a:endParaRPr>
          </a:p>
        </p:txBody>
      </p:sp>
      <p:sp>
        <p:nvSpPr>
          <p:cNvPr id="19" name="文本框 18"/>
          <p:cNvSpPr txBox="1"/>
          <p:nvPr/>
        </p:nvSpPr>
        <p:spPr>
          <a:xfrm>
            <a:off x="660590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value1</a:t>
            </a:r>
            <a:endParaRPr kumimoji="1" lang="en-US" altLang="zh-CN"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768159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value2</a:t>
            </a:r>
            <a:endParaRPr kumimoji="1" lang="en-US" altLang="zh-CN" dirty="0">
              <a:latin typeface="微软雅黑" panose="020B0503020204020204" pitchFamily="34" charset="-122"/>
              <a:ea typeface="微软雅黑" panose="020B0503020204020204" pitchFamily="34" charset="-122"/>
            </a:endParaRPr>
          </a:p>
        </p:txBody>
      </p:sp>
      <p:sp>
        <p:nvSpPr>
          <p:cNvPr id="21" name="文本框 20"/>
          <p:cNvSpPr txBox="1"/>
          <p:nvPr/>
        </p:nvSpPr>
        <p:spPr>
          <a:xfrm>
            <a:off x="885888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value3</a:t>
            </a:r>
            <a:endParaRPr kumimoji="1" lang="en-US" altLang="zh-CN" dirty="0">
              <a:latin typeface="微软雅黑" panose="020B0503020204020204" pitchFamily="34" charset="-122"/>
              <a:ea typeface="微软雅黑" panose="020B0503020204020204" pitchFamily="34" charset="-122"/>
            </a:endParaRPr>
          </a:p>
        </p:txBody>
      </p:sp>
      <p:sp>
        <p:nvSpPr>
          <p:cNvPr id="22" name="文本框 21"/>
          <p:cNvSpPr txBox="1"/>
          <p:nvPr/>
        </p:nvSpPr>
        <p:spPr>
          <a:xfrm>
            <a:off x="1017587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value4</a:t>
            </a:r>
            <a:endParaRPr kumimoji="1" lang="en-US" altLang="zh-CN" dirty="0">
              <a:latin typeface="微软雅黑" panose="020B0503020204020204" pitchFamily="34" charset="-122"/>
              <a:ea typeface="微软雅黑" panose="020B0503020204020204" pitchFamily="34" charset="-122"/>
            </a:endParaRPr>
          </a:p>
        </p:txBody>
      </p:sp>
      <p:sp>
        <p:nvSpPr>
          <p:cNvPr id="23" name="文本框 22"/>
          <p:cNvSpPr txBox="1"/>
          <p:nvPr/>
        </p:nvSpPr>
        <p:spPr>
          <a:xfrm>
            <a:off x="7832725"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9400540"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780415" y="1256030"/>
            <a:ext cx="3736975" cy="2895600"/>
          </a:xfrm>
          <a:prstGeom prst="rect">
            <a:avLst/>
          </a:prstGeom>
          <a:noFill/>
        </p:spPr>
        <p:txBody>
          <a:bodyPr wrap="square" rtlCol="0">
            <a:noAutofit/>
          </a:bodyPr>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如右图。</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其中，对于</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类型，存储时实际存储进去的是一个</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对象，但偏移量指向的仍然是字符串的起始位置。参与</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计算的也只有字符串部分。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可以通过</a:t>
            </a:r>
            <a:r>
              <a:rPr kumimoji="1" lang="en-US" altLang="zh-CN" dirty="0">
                <a:latin typeface="微软雅黑" panose="020B0503020204020204" pitchFamily="34" charset="-122"/>
                <a:ea typeface="微软雅黑" panose="020B0503020204020204" pitchFamily="34" charset="-122"/>
              </a:rPr>
              <a:t>#define strpre offsetof(TString, contents)</a:t>
            </a:r>
            <a:r>
              <a:rPr kumimoji="1" lang="zh-CN" altLang="en-US" dirty="0">
                <a:latin typeface="微软雅黑" panose="020B0503020204020204" pitchFamily="34" charset="-122"/>
                <a:ea typeface="微软雅黑" panose="020B0503020204020204" pitchFamily="34" charset="-122"/>
              </a:rPr>
              <a:t>这个宏，用字符串的起始地址</a:t>
            </a:r>
            <a:r>
              <a:rPr kumimoji="1" lang="en-US" altLang="zh-CN" dirty="0">
                <a:latin typeface="微软雅黑" panose="020B0503020204020204" pitchFamily="34" charset="-122"/>
                <a:ea typeface="微软雅黑" panose="020B0503020204020204" pitchFamily="34" charset="-122"/>
              </a:rPr>
              <a:t>-strpre</a:t>
            </a:r>
            <a:r>
              <a:rPr kumimoji="1" lang="zh-CN" altLang="en-US" dirty="0">
                <a:latin typeface="微软雅黑" panose="020B0503020204020204" pitchFamily="34" charset="-122"/>
                <a:ea typeface="微软雅黑" panose="020B0503020204020204" pitchFamily="34" charset="-122"/>
              </a:rPr>
              <a:t>，从一个字符串获取</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固定了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种子，以保证同一</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在不同虚拟机的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相同。</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1127760" y="4528820"/>
            <a:ext cx="6800850" cy="1800225"/>
          </a:xfrm>
          <a:prstGeom prst="rect">
            <a:avLst/>
          </a:prstGeom>
        </p:spPr>
      </p:pic>
      <p:sp>
        <p:nvSpPr>
          <p:cNvPr id="4" name="文本框 3"/>
          <p:cNvSpPr txBox="1"/>
          <p:nvPr/>
        </p:nvSpPr>
        <p:spPr>
          <a:xfrm>
            <a:off x="3455035" y="4228465"/>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2329815" y="3805555"/>
            <a:ext cx="155384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vpos-strpre</a:t>
            </a:r>
            <a:endParaRPr kumimoji="1" lang="en-US" altLang="zh-CN" dirty="0">
              <a:latin typeface="微软雅黑" panose="020B0503020204020204" pitchFamily="34" charset="-122"/>
              <a:ea typeface="微软雅黑" panose="020B0503020204020204" pitchFamily="34" charset="-122"/>
            </a:endParaRPr>
          </a:p>
        </p:txBody>
      </p:sp>
      <p:sp>
        <p:nvSpPr>
          <p:cNvPr id="7" name="文本框 6"/>
          <p:cNvSpPr txBox="1"/>
          <p:nvPr/>
        </p:nvSpPr>
        <p:spPr>
          <a:xfrm>
            <a:off x="514350" y="561594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38176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每个节点都有一个</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表，由</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获取对应的出边；</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采用链表法解决冲突，每个节点的</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桶数都设置为出边数量。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同时，整个文件有一个全局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表，桶数设置为节点数</a:t>
            </a:r>
            <a:r>
              <a:rPr kumimoji="1" lang="en-US" altLang="zh-CN" dirty="0">
                <a:latin typeface="微软雅黑" panose="020B0503020204020204" pitchFamily="34" charset="-122"/>
                <a:ea typeface="微软雅黑" panose="020B0503020204020204" pitchFamily="34" charset="-122"/>
              </a:rPr>
              <a:t>*2</a:t>
            </a:r>
            <a:r>
              <a:rPr kumimoji="1" lang="zh-CN" altLang="en-US" dirty="0">
                <a:latin typeface="微软雅黑" panose="020B0503020204020204" pitchFamily="34" charset="-122"/>
                <a:ea typeface="微软雅黑" panose="020B0503020204020204" pitchFamily="34" charset="-122"/>
              </a:rPr>
              <a:t>，作用类似</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，通过驻留相同字符串减少内存占用。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所有节点的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桶都存储在区域</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，节点记录自身</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桶起始位置相对</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的偏移量。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桶存储在区域</a:t>
            </a:r>
            <a:r>
              <a:rPr kumimoji="1" lang="en-US" altLang="zh-CN" dirty="0">
                <a:latin typeface="微软雅黑" panose="020B0503020204020204" pitchFamily="34" charset="-122"/>
                <a:ea typeface="微软雅黑" panose="020B0503020204020204" pitchFamily="34" charset="-122"/>
              </a:rPr>
              <a:t>headgh</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5547995" cy="378841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在构建文件时，会用到如下图的全局结构。</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1843405"/>
            <a:ext cx="5067300" cy="4038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存储到文件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26625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在构建好树形结构之后，把全局结构的指针指向的数据按如下顺序复制到连续的内存中，并写入文件：</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4" name="图片 3"/>
          <p:cNvPicPr>
            <a:picLocks noChangeAspect="1"/>
          </p:cNvPicPr>
          <p:nvPr/>
        </p:nvPicPr>
        <p:blipFill>
          <a:blip r:embed="rId3"/>
          <a:stretch>
            <a:fillRect/>
          </a:stretch>
        </p:blipFill>
        <p:spPr>
          <a:xfrm>
            <a:off x="795655" y="1913255"/>
            <a:ext cx="10144125" cy="233743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1843405"/>
            <a:ext cx="5067300" cy="4038600"/>
          </a:xfrm>
          <a:prstGeom prst="rect">
            <a:avLst/>
          </a:prstGeom>
        </p:spPr>
      </p:pic>
      <p:pic>
        <p:nvPicPr>
          <p:cNvPr id="3" name="图片 2"/>
          <p:cNvPicPr>
            <a:picLocks noChangeAspect="1"/>
          </p:cNvPicPr>
          <p:nvPr/>
        </p:nvPicPr>
        <p:blipFill>
          <a:blip r:embed="rId4"/>
          <a:stretch>
            <a:fillRect/>
          </a:stretch>
        </p:blipFill>
        <p:spPr>
          <a:xfrm>
            <a:off x="6299835" y="1843405"/>
            <a:ext cx="4229100" cy="3124200"/>
          </a:xfrm>
          <a:prstGeom prst="rect">
            <a:avLst/>
          </a:prstGeom>
        </p:spPr>
      </p:pic>
      <p:sp>
        <p:nvSpPr>
          <p:cNvPr id="6" name="文本框 5"/>
          <p:cNvSpPr txBox="1"/>
          <p:nvPr/>
        </p:nvSpPr>
        <p:spPr>
          <a:xfrm>
            <a:off x="603250" y="1101725"/>
            <a:ext cx="10336530" cy="112395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是一个和</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基本类似的结构，只是把所有的指针都换成了相对起始位置的偏移量。</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923270" cy="320294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读取时，先从文件起始位置读取</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结构体，然后把</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对象中的偏移量重新计算为指针</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即还原出</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，并记录</a:t>
            </a:r>
            <a:r>
              <a:rPr kumimoji="1" lang="en-US" altLang="zh-CN" dirty="0">
                <a:latin typeface="微软雅黑" panose="020B0503020204020204" pitchFamily="34" charset="-122"/>
                <a:ea typeface="微软雅黑" panose="020B0503020204020204" pitchFamily="34" charset="-122"/>
              </a:rPr>
              <a:t>path</a:t>
            </a:r>
            <a:r>
              <a:rPr kumimoji="1" lang="zh-CN" altLang="en-US" dirty="0">
                <a:latin typeface="微软雅黑" panose="020B0503020204020204" pitchFamily="34" charset="-122"/>
                <a:ea typeface="微软雅黑" panose="020B0503020204020204" pitchFamily="34" charset="-122"/>
              </a:rPr>
              <a:t>，文件描述符等一些额外的信息，存储到</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结构体中</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514350" y="2206625"/>
            <a:ext cx="6477000" cy="43624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474154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每当创建一个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时，会插入到</a:t>
            </a:r>
            <a:r>
              <a:rPr kumimoji="1" lang="en-US" altLang="zh-CN" dirty="0">
                <a:latin typeface="微软雅黑" panose="020B0503020204020204" pitchFamily="34" charset="-122"/>
                <a:ea typeface="微软雅黑" panose="020B0503020204020204" pitchFamily="34" charset="-122"/>
              </a:rPr>
              <a:t>global_state</a:t>
            </a:r>
            <a:r>
              <a:rPr kumimoji="1" lang="zh-CN" altLang="en-US" dirty="0">
                <a:latin typeface="微软雅黑" panose="020B0503020204020204" pitchFamily="34" charset="-122"/>
                <a:ea typeface="微软雅黑" panose="020B0503020204020204" pitchFamily="34" charset="-122"/>
              </a:rPr>
              <a:t>中的</a:t>
            </a:r>
            <a:r>
              <a:rPr kumimoji="1" lang="en-US" altLang="zh-CN" dirty="0">
                <a:latin typeface="微软雅黑" panose="020B0503020204020204" pitchFamily="34" charset="-122"/>
                <a:ea typeface="微软雅黑" panose="020B0503020204020204" pitchFamily="34" charset="-122"/>
              </a:rPr>
              <a:t>accessor* acslist</a:t>
            </a:r>
            <a:r>
              <a:rPr kumimoji="1" lang="zh-CN" altLang="en-US" dirty="0">
                <a:latin typeface="微软雅黑" panose="020B0503020204020204" pitchFamily="34" charset="-122"/>
                <a:ea typeface="微软雅黑" panose="020B0503020204020204" pitchFamily="34" charset="-122"/>
              </a:rPr>
              <a:t>，表示当前进程连接到的所有共享内存。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每当试图生成一个新的短字符串时，除了在已有的</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检查之外，还需要遍历</a:t>
            </a:r>
            <a:r>
              <a:rPr kumimoji="1" lang="en-US" altLang="zh-CN" dirty="0">
                <a:latin typeface="微软雅黑" panose="020B0503020204020204" pitchFamily="34" charset="-122"/>
                <a:ea typeface="微软雅黑" panose="020B0503020204020204" pitchFamily="34" charset="-122"/>
              </a:rPr>
              <a:t>acslist</a:t>
            </a:r>
            <a:r>
              <a:rPr kumimoji="1" lang="zh-CN" altLang="en-US" dirty="0">
                <a:latin typeface="微软雅黑" panose="020B0503020204020204" pitchFamily="34" charset="-122"/>
                <a:ea typeface="微软雅黑" panose="020B0503020204020204" pitchFamily="34" charset="-122"/>
              </a:rPr>
              <a:t>，检查是否有内容相同的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对象。这样保证了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原有的，直接靠地址判断短字符串相等的机制仍然能够正常工作。</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对象不在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链表上，在调用</a:t>
            </a:r>
            <a:r>
              <a:rPr kumimoji="1" lang="en-US" altLang="zh-CN" dirty="0">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时才被释放。</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访问数据</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005705"/>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sym typeface="+mn-ea"/>
              </a:rPr>
              <a:t>是</a:t>
            </a:r>
            <a:r>
              <a:rPr kumimoji="1" lang="en-US" altLang="zh-CN" dirty="0">
                <a:latin typeface="微软雅黑" panose="020B0503020204020204" pitchFamily="34" charset="-122"/>
                <a:ea typeface="微软雅黑" panose="020B0503020204020204" pitchFamily="34" charset="-122"/>
                <a:sym typeface="+mn-ea"/>
              </a:rPr>
              <a:t>push</a:t>
            </a:r>
            <a:r>
              <a:rPr kumimoji="1" lang="zh-CN" altLang="en-US" dirty="0">
                <a:latin typeface="微软雅黑" panose="020B0503020204020204" pitchFamily="34" charset="-122"/>
                <a:ea typeface="微软雅黑" panose="020B0503020204020204" pitchFamily="34" charset="-122"/>
                <a:sym typeface="+mn-ea"/>
              </a:rPr>
              <a:t>到</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栈上，并用于访问数据的结构</a:t>
            </a:r>
            <a:r>
              <a:rPr kumimoji="1" lang="zh-CN" altLang="en-US" dirty="0">
                <a:latin typeface="微软雅黑" panose="020B0503020204020204" pitchFamily="34" charset="-122"/>
                <a:ea typeface="微软雅黑" panose="020B0503020204020204" pitchFamily="34" charset="-122"/>
              </a:rPr>
              <a:t>，每个</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记录一个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指针、一个</a:t>
            </a:r>
            <a:r>
              <a:rPr kumimoji="1" lang="en-US" altLang="zh-CN" dirty="0">
                <a:latin typeface="微软雅黑" panose="020B0503020204020204" pitchFamily="34" charset="-122"/>
                <a:ea typeface="微软雅黑" panose="020B0503020204020204" pitchFamily="34" charset="-122"/>
              </a:rPr>
              <a:t>pos</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通过</a:t>
            </a:r>
            <a:r>
              <a:rPr kumimoji="1" lang="en-US" altLang="zh-CN" dirty="0">
                <a:latin typeface="微软雅黑" panose="020B0503020204020204" pitchFamily="34" charset="-122"/>
                <a:ea typeface="微软雅黑" panose="020B0503020204020204" pitchFamily="34" charset="-122"/>
                <a:sym typeface="+mn-ea"/>
              </a:rPr>
              <a:t>accessor</a:t>
            </a:r>
            <a:r>
              <a:rPr kumimoji="1" lang="zh-CN" altLang="en-US" dirty="0">
                <a:latin typeface="微软雅黑" panose="020B0503020204020204" pitchFamily="34" charset="-122"/>
                <a:ea typeface="微软雅黑" panose="020B0503020204020204" pitchFamily="34" charset="-122"/>
                <a:sym typeface="+mn-ea"/>
              </a:rPr>
              <a:t>指针</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当前节点编号</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，能够在树形结构上移动到新的</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，并查询相关数据。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当从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上</a:t>
            </a:r>
            <a:r>
              <a:rPr kumimoji="1" lang="en-US" altLang="zh-CN" dirty="0">
                <a:latin typeface="微软雅黑" panose="020B0503020204020204" pitchFamily="34" charset="-122"/>
                <a:ea typeface="微软雅黑" panose="020B0503020204020204" pitchFamily="34" charset="-122"/>
              </a:rPr>
              <a:t>index</a:t>
            </a:r>
            <a:r>
              <a:rPr kumimoji="1" lang="zh-CN" altLang="en-US" dirty="0">
                <a:latin typeface="微软雅黑" panose="020B0503020204020204" pitchFamily="34" charset="-122"/>
                <a:ea typeface="微软雅黑" panose="020B0503020204020204" pitchFamily="34" charset="-122"/>
              </a:rPr>
              <a:t>到一个非叶子节点时，会返回该节点对应的</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。否则返回对应的值。</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403796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在项目过程中，曾经使用的是</a:t>
            </a:r>
            <a:r>
              <a:rPr kumimoji="1" lang="en-US" altLang="zh-CN" dirty="0">
                <a:latin typeface="微软雅黑" panose="020B0503020204020204" pitchFamily="34" charset="-122"/>
                <a:ea typeface="微软雅黑" panose="020B0503020204020204" pitchFamily="34" charset="-122"/>
              </a:rPr>
              <a:t>userdata</a:t>
            </a:r>
            <a:r>
              <a:rPr kumimoji="1" lang="zh-CN" altLang="en-US" dirty="0">
                <a:latin typeface="微软雅黑" panose="020B0503020204020204" pitchFamily="34" charset="-122"/>
                <a:ea typeface="微软雅黑" panose="020B0503020204020204" pitchFamily="34" charset="-122"/>
              </a:rPr>
              <a:t>，不修改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源码的方式。实现相对容易，但实际读取数据时，</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还是需要复制一份到</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中。在循环遍历时，由于临时对象被</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，没有在内存占用上</a:t>
            </a:r>
            <a:r>
              <a:rPr kumimoji="1" lang="zh-CN" altLang="en-US" dirty="0">
                <a:latin typeface="微软雅黑" panose="020B0503020204020204" pitchFamily="34" charset="-122"/>
                <a:ea typeface="微软雅黑" panose="020B0503020204020204" pitchFamily="34" charset="-122"/>
              </a:rPr>
              <a:t>体现出来，但需要存储时就需要额外的</a:t>
            </a:r>
            <a:r>
              <a:rPr kumimoji="1" lang="zh-CN" altLang="en-US" dirty="0">
                <a:latin typeface="微软雅黑" panose="020B0503020204020204" pitchFamily="34" charset="-122"/>
                <a:ea typeface="微软雅黑" panose="020B0503020204020204" pitchFamily="34" charset="-122"/>
              </a:rPr>
              <a:t>空间。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于是，之后通过修改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a:t>
            </a:r>
            <a:r>
              <a:rPr kumimoji="1" lang="zh-CN" altLang="en-US" dirty="0">
                <a:latin typeface="微软雅黑" panose="020B0503020204020204" pitchFamily="34" charset="-122"/>
                <a:ea typeface="微软雅黑" panose="020B0503020204020204" pitchFamily="34" charset="-122"/>
              </a:rPr>
              <a:t>改为文件中直接存储</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对象给</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使用。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另外，还实现了一个用于把目录下所有指定格式的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文件中的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数据合并到转为一个以路径为</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的工具。</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1"/>
          <a:stretch>
            <a:fillRect/>
          </a:stretch>
        </p:blipFill>
        <p:spPr>
          <a:xfrm>
            <a:off x="780415" y="2355215"/>
            <a:ext cx="5815330" cy="3093720"/>
          </a:xfrm>
          <a:prstGeom prst="rect">
            <a:avLst/>
          </a:prstGeom>
        </p:spPr>
      </p:pic>
      <p:sp>
        <p:nvSpPr>
          <p:cNvPr id="4" name="文本框 3"/>
          <p:cNvSpPr txBox="1"/>
          <p:nvPr/>
        </p:nvSpPr>
        <p:spPr>
          <a:xfrm>
            <a:off x="780415" y="548894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然后调用前文所述</a:t>
            </a:r>
            <a:r>
              <a:rPr kumimoji="1" lang="en-US" altLang="zh-CN" dirty="0">
                <a:latin typeface="微软雅黑" panose="020B0503020204020204" pitchFamily="34" charset="-122"/>
                <a:ea typeface="微软雅黑" panose="020B0503020204020204" pitchFamily="34" charset="-122"/>
              </a:rPr>
              <a:t>build</a:t>
            </a:r>
            <a:r>
              <a:rPr kumimoji="1" lang="zh-CN" altLang="en-US" dirty="0">
                <a:latin typeface="微软雅黑" panose="020B0503020204020204" pitchFamily="34" charset="-122"/>
                <a:ea typeface="微软雅黑" panose="020B0503020204020204" pitchFamily="34" charset="-122"/>
              </a:rPr>
              <a:t>方法即可转为文件。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三、性能测试</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579" y="1131934"/>
            <a:ext cx="10336696" cy="506730"/>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对于如下</a:t>
            </a:r>
            <a:r>
              <a:rPr kumimoji="1" lang="en-US" altLang="zh-CN" dirty="0">
                <a:latin typeface="微软雅黑" panose="020B0503020204020204" pitchFamily="34" charset="-122"/>
                <a:ea typeface="微软雅黑" panose="020B0503020204020204" pitchFamily="34" charset="-122"/>
              </a:rPr>
              <a:t>data.lua</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huge_data.lua</a:t>
            </a:r>
            <a:r>
              <a:rPr kumimoji="1" lang="zh-CN" altLang="en-US" dirty="0">
                <a:latin typeface="微软雅黑" panose="020B0503020204020204" pitchFamily="34" charset="-122"/>
                <a:ea typeface="微软雅黑" panose="020B0503020204020204" pitchFamily="34" charset="-122"/>
              </a:rPr>
              <a:t>，构建出文件的大小如下：</a:t>
            </a:r>
            <a:endParaRPr kumimoji="1" lang="zh-CN" altLang="en-US"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3"/>
          <a:stretch>
            <a:fillRect/>
          </a:stretch>
        </p:blipFill>
        <p:spPr>
          <a:xfrm>
            <a:off x="780415" y="1885950"/>
            <a:ext cx="5705475" cy="1133475"/>
          </a:xfrm>
          <a:prstGeom prst="rect">
            <a:avLst/>
          </a:prstGeom>
        </p:spPr>
      </p:pic>
      <p:sp>
        <p:nvSpPr>
          <p:cNvPr id="2" name="文本框 1"/>
          <p:cNvSpPr txBox="1"/>
          <p:nvPr/>
        </p:nvSpPr>
        <p:spPr>
          <a:xfrm>
            <a:off x="780415" y="3331846"/>
            <a:ext cx="10336696" cy="458908"/>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构建文件所需时间和完整遍历</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的时间基本相等（见后文）。</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69784" y="1049384"/>
            <a:ext cx="10336696" cy="319976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提供了三组程序用于测试内存占用。由于时间限制，没能在实际的服务器</a:t>
            </a:r>
            <a:r>
              <a:rPr kumimoji="1" lang="en-US" altLang="zh-CN" dirty="0">
                <a:latin typeface="微软雅黑" panose="020B0503020204020204" pitchFamily="34" charset="-122"/>
                <a:ea typeface="微软雅黑" panose="020B0503020204020204" pitchFamily="34" charset="-122"/>
              </a:rPr>
              <a:t>demo</a:t>
            </a:r>
            <a:r>
              <a:rPr kumimoji="1" lang="zh-CN" altLang="en-US" dirty="0">
                <a:latin typeface="微软雅黑" panose="020B0503020204020204" pitchFamily="34" charset="-122"/>
                <a:ea typeface="微软雅黑" panose="020B0503020204020204" pitchFamily="34" charset="-122"/>
              </a:rPr>
              <a:t>上进行测试。</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为从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然后进行遍历，这样做相当于是在共享</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对象，且仍然使用</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原生的</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进行管理。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为直接遍历</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为直接遍历原始</a:t>
            </a:r>
            <a:r>
              <a:rPr kumimoji="1" lang="en-US" altLang="zh-CN" dirty="0">
                <a:latin typeface="微软雅黑" panose="020B0503020204020204" pitchFamily="34" charset="-122"/>
                <a:ea typeface="微软雅黑" panose="020B0503020204020204" pitchFamily="34" charset="-122"/>
                <a:sym typeface="+mn-ea"/>
              </a:rPr>
              <a:t>table</a:t>
            </a:r>
            <a:endParaRPr kumimoji="1" lang="en-US" altLang="zh-CN"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遍历函数如下：</a:t>
            </a:r>
            <a:endParaRPr kumimoji="1" lang="zh-CN" altLang="en-US" dirty="0">
              <a:latin typeface="微软雅黑" panose="020B0503020204020204" pitchFamily="34" charset="-122"/>
              <a:ea typeface="微软雅黑" panose="020B0503020204020204" pitchFamily="34" charset="-122"/>
            </a:endParaRPr>
          </a:p>
        </p:txBody>
      </p:sp>
      <p:pic>
        <p:nvPicPr>
          <p:cNvPr id="2" name="图片 1"/>
          <p:cNvPicPr>
            <a:picLocks noChangeAspect="1"/>
          </p:cNvPicPr>
          <p:nvPr/>
        </p:nvPicPr>
        <p:blipFill>
          <a:blip r:embed="rId3"/>
          <a:stretch>
            <a:fillRect/>
          </a:stretch>
        </p:blipFill>
        <p:spPr>
          <a:xfrm>
            <a:off x="769620" y="4556760"/>
            <a:ext cx="5095875" cy="166687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40410" y="1049655"/>
            <a:ext cx="5518150"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a:t>
            </a:r>
            <a:r>
              <a:rPr kumimoji="1" lang="zh-CN" altLang="en-US" dirty="0">
                <a:latin typeface="微软雅黑" panose="020B0503020204020204" pitchFamily="34" charset="-122"/>
                <a:ea typeface="微软雅黑" panose="020B0503020204020204" pitchFamily="34" charset="-122"/>
                <a:sym typeface="+mn-ea"/>
              </a:rPr>
              <a:t>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3"/>
          <a:stretch>
            <a:fillRect/>
          </a:stretch>
        </p:blipFill>
        <p:spPr>
          <a:xfrm>
            <a:off x="6696075" y="0"/>
            <a:ext cx="5495925" cy="4295775"/>
          </a:xfrm>
          <a:prstGeom prst="rect">
            <a:avLst/>
          </a:prstGeom>
        </p:spPr>
      </p:pic>
      <p:sp>
        <p:nvSpPr>
          <p:cNvPr id="2" name="文本框 1"/>
          <p:cNvSpPr txBox="1"/>
          <p:nvPr/>
        </p:nvSpPr>
        <p:spPr>
          <a:xfrm>
            <a:off x="740410" y="3775710"/>
            <a:ext cx="10270490" cy="256222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data.lua(693KB)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对比</a:t>
            </a: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，平均</a:t>
            </a:r>
            <a:r>
              <a:rPr kumimoji="1" lang="en-US" altLang="zh-CN" dirty="0">
                <a:latin typeface="微软雅黑" panose="020B0503020204020204" pitchFamily="34" charset="-122"/>
                <a:ea typeface="微软雅黑" panose="020B0503020204020204" pitchFamily="34" charset="-122"/>
              </a:rPr>
              <a:t>RSS</a:t>
            </a:r>
            <a:r>
              <a:rPr kumimoji="1" lang="zh-CN" altLang="en-US" dirty="0">
                <a:latin typeface="微软雅黑" panose="020B0503020204020204" pitchFamily="34" charset="-122"/>
                <a:ea typeface="微软雅黑" panose="020B0503020204020204" pitchFamily="34" charset="-122"/>
              </a:rPr>
              <a:t>优势不明显，平均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则都小很多，仅为原本的</a:t>
            </a:r>
            <a:r>
              <a:rPr kumimoji="1" lang="en-US" altLang="zh-CN" dirty="0">
                <a:latin typeface="微软雅黑" panose="020B0503020204020204" pitchFamily="34" charset="-122"/>
                <a:ea typeface="微软雅黑" panose="020B0503020204020204" pitchFamily="34" charset="-122"/>
              </a:rPr>
              <a:t>27%</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，即使是在复制出整个</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之后，由于共享了数据表中占大多数的</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a:t>
            </a:r>
            <a:r>
              <a:rPr kumimoji="1" lang="en-US" altLang="zh-CN" dirty="0">
                <a:latin typeface="微软雅黑" panose="020B0503020204020204" pitchFamily="34" charset="-122"/>
                <a:ea typeface="微软雅黑" panose="020B0503020204020204" pitchFamily="34" charset="-122"/>
                <a:sym typeface="+mn-ea"/>
              </a:rPr>
              <a:t>PSS</a:t>
            </a:r>
            <a:r>
              <a:rPr kumimoji="1" lang="zh-CN" altLang="en-US" dirty="0">
                <a:latin typeface="微软雅黑" panose="020B0503020204020204" pitchFamily="34" charset="-122"/>
                <a:ea typeface="微软雅黑" panose="020B0503020204020204" pitchFamily="34" charset="-122"/>
                <a:sym typeface="+mn-ea"/>
              </a:rPr>
              <a:t>仍然较小。</a:t>
            </a:r>
            <a:endParaRPr kumimoji="1" lang="zh-CN" altLang="en-US"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，可以发现</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自身的结构还是占用了较多内存。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6086475" y="0"/>
            <a:ext cx="6105525" cy="4286250"/>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7994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780579" y="4368529"/>
            <a:ext cx="10336696" cy="164528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可以看到，在使用更大的数据表之后，</a:t>
            </a:r>
            <a:r>
              <a:rPr kumimoji="1" lang="en-US" altLang="zh-CN" dirty="0">
                <a:latin typeface="微软雅黑" panose="020B0503020204020204" pitchFamily="34" charset="-122"/>
                <a:ea typeface="微软雅黑" panose="020B0503020204020204" pitchFamily="34" charset="-122"/>
              </a:rPr>
              <a:t>shm</a:t>
            </a:r>
            <a:r>
              <a:rPr kumimoji="1" lang="zh-CN" altLang="en-US" dirty="0">
                <a:latin typeface="微软雅黑" panose="020B0503020204020204" pitchFamily="34" charset="-122"/>
                <a:ea typeface="微软雅黑" panose="020B0503020204020204" pitchFamily="34" charset="-122"/>
              </a:rPr>
              <a:t>的内存占用优势明显了很多，平均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仅为原本的</a:t>
            </a:r>
            <a:r>
              <a:rPr kumimoji="1" lang="en-US" altLang="zh-CN" dirty="0">
                <a:latin typeface="微软雅黑" panose="020B0503020204020204" pitchFamily="34" charset="-122"/>
                <a:ea typeface="微软雅黑" panose="020B0503020204020204" pitchFamily="34" charset="-122"/>
              </a:rPr>
              <a:t>11.1%</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92726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927899" y="4368529"/>
            <a:ext cx="10336696"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即使是只启动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个进程，在面对较大的数据表时优势仍然明显</a:t>
            </a:r>
            <a:r>
              <a:rPr kumimoji="1" lang="en-US" altLang="zh-CN" dirty="0">
                <a:latin typeface="微软雅黑" panose="020B0503020204020204" pitchFamily="34" charset="-122"/>
                <a:ea typeface="微软雅黑" panose="020B0503020204020204" pitchFamily="34" charset="-122"/>
              </a:rPr>
              <a:t>(37.5%)</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6696075" y="0"/>
            <a:ext cx="5495925" cy="42767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访问速度</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测试方式为对于相同</a:t>
            </a:r>
            <a:r>
              <a:rPr kumimoji="1" lang="en-US" altLang="zh-CN" dirty="0">
                <a:latin typeface="微软雅黑" panose="020B0503020204020204" pitchFamily="34" charset="-122"/>
                <a:ea typeface="微软雅黑" panose="020B0503020204020204" pitchFamily="34" charset="-122"/>
              </a:rPr>
              <a:t>table(data.lua</a:t>
            </a:r>
            <a:r>
              <a:rPr kumimoji="1" lang="zh-CN" altLang="en-US" dirty="0">
                <a:latin typeface="微软雅黑" panose="020B0503020204020204" pitchFamily="34" charset="-122"/>
                <a:ea typeface="微软雅黑" panose="020B0503020204020204" pitchFamily="34" charset="-122"/>
              </a:rPr>
              <a:t>和构建出的</a:t>
            </a:r>
            <a:r>
              <a:rPr kumimoji="1" lang="en-US" altLang="zh-CN" dirty="0">
                <a:latin typeface="微软雅黑" panose="020B0503020204020204" pitchFamily="34" charset="-122"/>
                <a:ea typeface="微软雅黑" panose="020B0503020204020204" pitchFamily="34" charset="-122"/>
              </a:rPr>
              <a:t>data.bin)</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10000</a:t>
            </a:r>
            <a:r>
              <a:rPr kumimoji="1" lang="zh-CN" altLang="en-US" dirty="0">
                <a:latin typeface="微软雅黑" panose="020B0503020204020204" pitchFamily="34" charset="-122"/>
                <a:ea typeface="微软雅黑" panose="020B0503020204020204" pitchFamily="34" charset="-122"/>
              </a:rPr>
              <a:t>次取平均时间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下图从上至下分别为</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遍历，普通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构建出的普通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遍历所需时间</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单位：</a:t>
            </a:r>
            <a:r>
              <a:rPr kumimoji="1" lang="en-US" altLang="zh-CN" dirty="0">
                <a:latin typeface="微软雅黑" panose="020B0503020204020204" pitchFamily="34" charset="-122"/>
                <a:ea typeface="微软雅黑" panose="020B0503020204020204" pitchFamily="34" charset="-122"/>
                <a:sym typeface="+mn-ea"/>
              </a:rPr>
              <a:t>s)</a:t>
            </a:r>
            <a:endParaRPr kumimoji="1" lang="zh-CN" altLang="en-US"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80579" y="4134214"/>
            <a:ext cx="10336696" cy="304609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访问速度约为</a:t>
            </a:r>
            <a:r>
              <a:rPr kumimoji="1" lang="en-US" altLang="zh-CN" dirty="0">
                <a:latin typeface="微软雅黑" panose="020B0503020204020204" pitchFamily="34" charset="-122"/>
                <a:ea typeface="微软雅黑" panose="020B0503020204020204" pitchFamily="34" charset="-122"/>
              </a:rPr>
              <a:t>1.315</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1</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0.9576</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的访问速度明显比原生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要慢；但是使用从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构建新</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的方式，则可以牺牲一些内存占用，换取同样的性能。</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这里</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遍历快于普通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，是因为此时的</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对象都不在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链表上，会减少</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操作所用时间。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863600" y="2512695"/>
            <a:ext cx="3364230" cy="148526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四、总结</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本项目能够将</a:t>
            </a:r>
            <a:r>
              <a:rPr kumimoji="1" lang="en-US" altLang="zh-CN" dirty="0">
                <a:latin typeface="微软雅黑" panose="020B0503020204020204" pitchFamily="34" charset="-122"/>
                <a:ea typeface="微软雅黑" panose="020B0503020204020204" pitchFamily="34" charset="-122"/>
              </a:rPr>
              <a:t>Lua table</a:t>
            </a:r>
            <a:r>
              <a:rPr kumimoji="1" lang="zh-CN" altLang="en-US" dirty="0">
                <a:latin typeface="微软雅黑" panose="020B0503020204020204" pitchFamily="34" charset="-122"/>
                <a:ea typeface="微软雅黑" panose="020B0503020204020204" pitchFamily="34" charset="-122"/>
              </a:rPr>
              <a:t>转化为只读数据结构，并在多进程的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多进程下能够极大减少内存占用。</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访问速度上比</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要慢，但可以通过只共享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的方式，以增大内存占用</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但仍然远小于直接读取</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为代价得到相同的访问速度。</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可改进的点</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由于时间限制，还有一些想法未能实现。</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例如，在上述只共享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的方案上更进一步，改为共享</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a:latin typeface="微软雅黑" panose="020B0503020204020204" pitchFamily="34" charset="-122"/>
                <a:ea typeface="微软雅黑" panose="020B0503020204020204" pitchFamily="34" charset="-122"/>
              </a:rPr>
              <a:t>；</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或者把</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本身也放入共享内存中，从而避免重复访问产生多个指向相同位置的</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，同时也就不必由</a:t>
            </a:r>
            <a:r>
              <a:rPr kumimoji="1" lang="en-US" altLang="zh-CN" dirty="0">
                <a:latin typeface="微软雅黑" panose="020B0503020204020204" pitchFamily="34" charset="-122"/>
                <a:ea typeface="微软雅黑" panose="020B0503020204020204" pitchFamily="34" charset="-122"/>
              </a:rPr>
              <a:t>Lua </a:t>
            </a:r>
            <a:r>
              <a:rPr kumimoji="1" lang="en-US" altLang="zh-CN" dirty="0" err="1">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管理；</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本身目前只会在</a:t>
            </a:r>
            <a:r>
              <a:rPr kumimoji="1" lang="en-US" altLang="zh-CN" dirty="0" err="1">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时释放，对标记算法稍作修改也可以做到让它在无引用时释放。</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5663"/>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THANK YOU</a:t>
            </a:r>
            <a:endParaRPr kumimoji="1" lang="zh-CN" altLang="en-US" sz="6000" b="1" dirty="0">
              <a:latin typeface="微软雅黑" panose="020B0503020204020204" pitchFamily="34" charset="-122"/>
              <a:ea typeface="微软雅黑" panose="020B0503020204020204" pitchFamily="34" charset="-122"/>
            </a:endParaRPr>
          </a:p>
        </p:txBody>
      </p:sp>
      <p:pic>
        <p:nvPicPr>
          <p:cNvPr id="13" name="图形 1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97313" y="3723592"/>
            <a:ext cx="1197375" cy="200978"/>
          </a:xfrm>
          <a:prstGeom prst="rect">
            <a:avLst/>
          </a:prstGeom>
        </p:spPr>
      </p:pic>
    </p:spTree>
  </p:cSld>
  <p:clrMapOvr>
    <a:masterClrMapping/>
  </p:clrMapOvr>
</p:sld>
</file>

<file path=ppt/tags/tag1.xml><?xml version="1.0" encoding="utf-8"?>
<p:tagLst xmlns:p="http://schemas.openxmlformats.org/presentationml/2006/main">
  <p:tag name="COMMONDATA" val="eyJoZGlkIjoiMzA3YmEwZTZiZTcwOGUxNGRjZDIwNzAwMzQ1ZGJkNWEifQ=="/>
</p:tagLst>
</file>

<file path=ppt/theme/theme1.xml><?xml version="1.0" encoding="utf-8"?>
<a:theme xmlns:a="http://schemas.openxmlformats.org/drawingml/2006/main" name="Office 主题​​">
  <a:themeElements>
    <a:clrScheme name="红色">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3282</Words>
  <Application>WPS 演示</Application>
  <PresentationFormat>宽屏</PresentationFormat>
  <Paragraphs>199</Paragraphs>
  <Slides>27</Slides>
  <Notes>13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27</vt:i4>
      </vt:variant>
    </vt:vector>
  </HeadingPairs>
  <TitlesOfParts>
    <vt:vector size="35" baseType="lpstr">
      <vt:lpstr>Arial</vt:lpstr>
      <vt:lpstr>宋体</vt:lpstr>
      <vt:lpstr>Wingdings</vt:lpstr>
      <vt:lpstr>微软雅黑</vt:lpstr>
      <vt:lpstr>Arial Unicode MS</vt:lpstr>
      <vt:lpstr>Arial Black</vt:lpstr>
      <vt:lpstr>黑体</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网易集团PPT模板</dc:title>
  <dc:creator>Netease</dc:creator>
  <cp:lastModifiedBy>liulingfeng01</cp:lastModifiedBy>
  <cp:revision>311</cp:revision>
  <dcterms:created xsi:type="dcterms:W3CDTF">2020-10-23T08:28:00Z</dcterms:created>
  <dcterms:modified xsi:type="dcterms:W3CDTF">2025-09-15T10:20:55Z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CBF6EA77B58649A69751C5AC90853E80</vt:lpwstr>
  </property>
  <property fmtid="{D5CDD505-2E9C-101B-9397-08002B2CF9AE}" pid="3" name="KSOProductBuildVer">
    <vt:lpwstr>2052-12.1.0.22529</vt:lpwstr>
  </property>
</Properties>
</file>