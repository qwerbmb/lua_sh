
<file path=[Content_Types].xml><?xml version="1.0" encoding="utf-8"?>
<Types xmlns="http://schemas.openxmlformats.org/package/2006/content-types">
  <Default Extension="jpeg" ContentType="image/jpeg"/>
  <Default Extension="JPG" ContentType="image/.jpg"/>
  <Default Extension="tiff" ContentType="image/tiff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3.svg" ContentType="image/svg+xml"/>
  <Override PartName="/ppt/media/image16.svg" ContentType="image/svg+xml"/>
  <Override PartName="/ppt/media/image17.svg" ContentType="image/svg+xml"/>
  <Override PartName="/ppt/media/image20.svg" ContentType="image/svg+xml"/>
  <Override PartName="/ppt/media/image23.svg" ContentType="image/svg+xml"/>
  <Override PartName="/ppt/media/image26.svg" ContentType="image/svg+xml"/>
  <Override PartName="/ppt/media/image3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6"/>
  </p:handoutMasterIdLst>
  <p:sldIdLst>
    <p:sldId id="261" r:id="rId3"/>
    <p:sldId id="266" r:id="rId5"/>
    <p:sldId id="436" r:id="rId6"/>
    <p:sldId id="439" r:id="rId7"/>
    <p:sldId id="437" r:id="rId8"/>
    <p:sldId id="448" r:id="rId9"/>
    <p:sldId id="441" r:id="rId10"/>
    <p:sldId id="444" r:id="rId11"/>
    <p:sldId id="440" r:id="rId12"/>
    <p:sldId id="445" r:id="rId13"/>
    <p:sldId id="442" r:id="rId14"/>
    <p:sldId id="446" r:id="rId15"/>
    <p:sldId id="447" r:id="rId16"/>
    <p:sldId id="449" r:id="rId17"/>
    <p:sldId id="434" r:id="rId18"/>
    <p:sldId id="431" r:id="rId19"/>
    <p:sldId id="426" r:id="rId20"/>
    <p:sldId id="432" r:id="rId21"/>
    <p:sldId id="427" r:id="rId22"/>
    <p:sldId id="433" r:id="rId23"/>
    <p:sldId id="435" r:id="rId24"/>
    <p:sldId id="371" r:id="rId25"/>
  </p:sldIdLst>
  <p:sldSz cx="12192000" cy="6858000"/>
  <p:notesSz cx="6858000" cy="9144000"/>
  <p:custDataLst>
    <p:tags r:id="rId3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徐小欢" initials="徐小欢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80D0B"/>
    <a:srgbClr val="C21C1C"/>
    <a:srgbClr val="CB1313"/>
    <a:srgbClr val="DB1F1F"/>
    <a:srgbClr val="E12F2F"/>
    <a:srgbClr val="1A1A1B"/>
    <a:srgbClr val="313134"/>
    <a:srgbClr val="181819"/>
    <a:srgbClr val="A50A09"/>
    <a:srgbClr val="DF39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561"/>
    <p:restoredTop sz="94270" autoAdjust="0"/>
  </p:normalViewPr>
  <p:slideViewPr>
    <p:cSldViewPr snapToGrid="0">
      <p:cViewPr varScale="1">
        <p:scale>
          <a:sx n="108" d="100"/>
          <a:sy n="108" d="100"/>
        </p:scale>
        <p:origin x="1026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" d="100"/>
        <a:sy n="2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1" Type="http://schemas.openxmlformats.org/officeDocument/2006/relationships/tags" Target="tags/tag1.xml"/><Relationship Id="rId30" Type="http://schemas.openxmlformats.org/officeDocument/2006/relationships/commentAuthors" Target="commentAuthors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handoutMaster" Target="handoutMasters/handoutMaster1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zh-CN" altLang="en-US"/>
              <a:t>网易内部资料，请勿外传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26E12E-97A2-40B7-A362-065E30B989D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zh-CN" altLang="en-US"/>
              <a:t>网易内部资料，请勿外传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43C561-CBA4-45D6-BD55-1C5FFEC0346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59CD4FC-624D-AB4E-9533-E6A468B0E056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zh-CN" altLang="en-US"/>
              <a:t>编辑母版文本样式
第二级
第三级
第四级
第五级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8D024F85-CB1C-7445-9B98-7B8479DF2CF8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microsoft.com/office/2007/relationships/hdphoto" Target="../media/image7.wdp"/><Relationship Id="rId4" Type="http://schemas.openxmlformats.org/officeDocument/2006/relationships/image" Target="../media/image6.png"/><Relationship Id="rId3" Type="http://schemas.microsoft.com/office/2007/relationships/hdphoto" Target="../media/image5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4A7191-98FC-4568-95DD-ED3C44E606AA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-红色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4A7191-98FC-4568-95DD-ED3C44E606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-红色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2533" y="0"/>
            <a:ext cx="12204533" cy="6858000"/>
          </a:xfrm>
          <a:prstGeom prst="rect">
            <a:avLst/>
          </a:prstGeom>
        </p:spPr>
      </p:pic>
      <p:sp>
        <p:nvSpPr>
          <p:cNvPr id="3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4A7191-98FC-4568-95DD-ED3C44E606AA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3011686" y="6408107"/>
            <a:ext cx="61686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——</a:t>
            </a:r>
            <a:r>
              <a:rPr lang="zh-CN" altLang="en-US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网易内部商业机密，请勿外传</a:t>
            </a:r>
            <a:r>
              <a:rPr lang="en-US" altLang="zh-CN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——</a:t>
            </a:r>
            <a:endParaRPr lang="zh-CN" altLang="en-US" sz="1100" kern="1200" dirty="0">
              <a:solidFill>
                <a:schemeClr val="bg1">
                  <a:lumMod val="65000"/>
                </a:schemeClr>
              </a:solidFill>
              <a:latin typeface="+mj-ea"/>
              <a:ea typeface="+mj-ea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-红色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4A7191-98FC-4568-95DD-ED3C44E606AA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3011686" y="6408107"/>
            <a:ext cx="61686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——</a:t>
            </a:r>
            <a:r>
              <a:rPr lang="zh-CN" altLang="en-US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网易内部商业机密，请勿外传</a:t>
            </a:r>
            <a:r>
              <a:rPr lang="en-US" altLang="zh-CN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——</a:t>
            </a:r>
            <a:endParaRPr lang="zh-CN" altLang="en-US" sz="1100" kern="1200" dirty="0">
              <a:solidFill>
                <a:schemeClr val="bg1">
                  <a:lumMod val="65000"/>
                </a:schemeClr>
              </a:solidFill>
              <a:latin typeface="+mj-ea"/>
              <a:ea typeface="+mj-ea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-红色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4A7191-98FC-4568-95DD-ED3C44E606AA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3011686" y="6408107"/>
            <a:ext cx="61686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——</a:t>
            </a:r>
            <a:r>
              <a:rPr lang="zh-CN" altLang="en-US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网易内部商业机密，请勿外传</a:t>
            </a:r>
            <a:r>
              <a:rPr lang="en-US" altLang="zh-CN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——</a:t>
            </a:r>
            <a:endParaRPr lang="zh-CN" altLang="en-US" sz="1100" kern="1200" dirty="0">
              <a:solidFill>
                <a:schemeClr val="bg1">
                  <a:lumMod val="65000"/>
                </a:schemeClr>
              </a:solidFill>
              <a:latin typeface="+mj-ea"/>
              <a:ea typeface="+mj-ea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-红色热爱">
    <p:bg>
      <p:bgPr>
        <a:solidFill>
          <a:srgbClr val="A80D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169819" y="0"/>
            <a:ext cx="12018615" cy="6858000"/>
            <a:chOff x="63375" y="-155701"/>
            <a:chExt cx="12018615" cy="685800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820"/>
            <a:stretch>
              <a:fillRect/>
            </a:stretch>
          </p:blipFill>
          <p:spPr>
            <a:xfrm>
              <a:off x="63375" y="-155701"/>
              <a:ext cx="5800210" cy="6013009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1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6736" y="876394"/>
              <a:ext cx="5145254" cy="5825905"/>
            </a:xfrm>
            <a:prstGeom prst="rect">
              <a:avLst/>
            </a:prstGeom>
          </p:spPr>
        </p:pic>
      </p:grp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4A7191-98FC-4568-95DD-ED3C44E606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-红色大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" name="灯片编号占位符 5"/>
          <p:cNvSpPr txBox="1"/>
          <p:nvPr userDrawn="1"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A4A7191-98FC-4568-95DD-ED3C44E606AA}" type="slidenum">
              <a:rPr lang="zh-CN" altLang="en-US" smtClean="0"/>
            </a:fld>
            <a:endParaRPr lang="zh-CN" altLang="en-US"/>
          </a:p>
        </p:txBody>
      </p:sp>
      <p:sp>
        <p:nvSpPr>
          <p:cNvPr id="9" name="文本框 8"/>
          <p:cNvSpPr txBox="1"/>
          <p:nvPr userDrawn="1"/>
        </p:nvSpPr>
        <p:spPr>
          <a:xfrm>
            <a:off x="3011686" y="6408107"/>
            <a:ext cx="61686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——</a:t>
            </a:r>
            <a:r>
              <a:rPr lang="zh-CN" altLang="en-US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网易内部商业机密，请勿外传</a:t>
            </a:r>
            <a:r>
              <a:rPr lang="en-US" altLang="zh-CN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——</a:t>
            </a:r>
            <a:endParaRPr lang="zh-CN" altLang="en-US" sz="1100" kern="1200" dirty="0">
              <a:solidFill>
                <a:schemeClr val="bg1">
                  <a:lumMod val="65000"/>
                </a:schemeClr>
              </a:solidFill>
              <a:latin typeface="+mj-ea"/>
              <a:ea typeface="+mj-ea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背景-黑色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4A7191-98FC-4568-95DD-ED3C44E606AA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3011686" y="6408107"/>
            <a:ext cx="61686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——</a:t>
            </a:r>
            <a:r>
              <a:rPr lang="zh-CN" altLang="en-US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网易内部商业机密，请勿外传</a:t>
            </a:r>
            <a:r>
              <a:rPr lang="en-US" altLang="zh-CN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——</a:t>
            </a:r>
            <a:endParaRPr lang="zh-CN" altLang="en-US" sz="1100" kern="1200" dirty="0">
              <a:solidFill>
                <a:schemeClr val="bg1">
                  <a:lumMod val="65000"/>
                </a:schemeClr>
              </a:solidFill>
              <a:latin typeface="+mj-ea"/>
              <a:ea typeface="+mj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5A4A7191-98FC-4568-95DD-ED3C44E606A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3011686" y="6408107"/>
            <a:ext cx="61686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——</a:t>
            </a:r>
            <a:r>
              <a:rPr lang="zh-CN" altLang="en-US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网易内部商业机密，请勿外传</a:t>
            </a:r>
            <a:r>
              <a:rPr lang="en-US" altLang="zh-CN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——</a:t>
            </a:r>
            <a:endParaRPr lang="zh-CN" altLang="en-US" sz="1100" kern="1200" dirty="0">
              <a:solidFill>
                <a:schemeClr val="bg1">
                  <a:lumMod val="65000"/>
                </a:schemeClr>
              </a:solidFill>
              <a:latin typeface="+mj-ea"/>
              <a:ea typeface="+mj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jpeg"/><Relationship Id="rId1" Type="http://schemas.openxmlformats.org/officeDocument/2006/relationships/image" Target="../media/image10.tif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svg"/><Relationship Id="rId1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6.svg"/><Relationship Id="rId1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6.svg"/><Relationship Id="rId1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6.svg"/><Relationship Id="rId1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2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4.png"/><Relationship Id="rId3" Type="http://schemas.openxmlformats.org/officeDocument/2006/relationships/image" Target="../media/image21.png"/><Relationship Id="rId2" Type="http://schemas.openxmlformats.org/officeDocument/2006/relationships/image" Target="../media/image23.svg"/><Relationship Id="rId1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3.svg"/><Relationship Id="rId1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6.svg"/><Relationship Id="rId1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7.svg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8.png"/><Relationship Id="rId2" Type="http://schemas.openxmlformats.org/officeDocument/2006/relationships/image" Target="../media/image20.svg"/><Relationship Id="rId1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9.png"/><Relationship Id="rId2" Type="http://schemas.openxmlformats.org/officeDocument/2006/relationships/image" Target="../media/image17.svg"/><Relationship Id="rId1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0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1.png"/><Relationship Id="rId2" Type="http://schemas.openxmlformats.org/officeDocument/2006/relationships/image" Target="../media/image17.svg"/><Relationship Id="rId1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2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3.png"/><Relationship Id="rId2" Type="http://schemas.openxmlformats.org/officeDocument/2006/relationships/image" Target="../media/image20.svg"/><Relationship Id="rId1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5.svg"/><Relationship Id="rId1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0D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0" y="2680382"/>
            <a:ext cx="12191999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实习成果</a:t>
            </a:r>
            <a:r>
              <a:rPr lang="en-US" altLang="zh-CN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review</a:t>
            </a:r>
            <a:endParaRPr kumimoji="1" lang="zh-CN" altLang="en-US" sz="6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493865" y="3690497"/>
            <a:ext cx="8293769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kumimoji="1" lang="en-US" altLang="zh-CN" sz="2000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C+Lua</a:t>
            </a:r>
            <a:r>
              <a:rPr kumimoji="1" lang="zh-CN" altLang="en-US" sz="2000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的共享内存</a:t>
            </a:r>
            <a:r>
              <a:rPr kumimoji="1" lang="zh-CN" altLang="en-US" sz="2000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  <a:endParaRPr kumimoji="1" lang="zh-CN" altLang="en-US" sz="2000" spc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721980" y="4293258"/>
            <a:ext cx="4531659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dirty="0">
                <a:solidFill>
                  <a:schemeClr val="bg1"/>
                </a:solidFill>
                <a:latin typeface="+mj-ea"/>
                <a:ea typeface="+mj-ea"/>
              </a:rPr>
              <a:t>刘淩峰</a:t>
            </a:r>
            <a:r>
              <a:rPr kumimoji="1" lang="en-US" altLang="zh-CN" sz="1600" dirty="0">
                <a:solidFill>
                  <a:schemeClr val="bg1"/>
                </a:solidFill>
                <a:latin typeface="+mj-ea"/>
                <a:ea typeface="+mj-ea"/>
              </a:rPr>
              <a:t>-</a:t>
            </a:r>
            <a:r>
              <a:rPr kumimoji="1" lang="zh-CN" altLang="en-US" sz="1600" dirty="0">
                <a:solidFill>
                  <a:schemeClr val="bg1"/>
                </a:solidFill>
                <a:latin typeface="+mj-ea"/>
                <a:ea typeface="+mj-ea"/>
              </a:rPr>
              <a:t>大话事业部</a:t>
            </a:r>
            <a:endParaRPr kumimoji="1" lang="en-US" altLang="zh-CN" sz="1600" dirty="0">
              <a:solidFill>
                <a:schemeClr val="bg1"/>
              </a:solidFill>
              <a:latin typeface="+mj-ea"/>
              <a:ea typeface="+mj-ea"/>
            </a:endParaRPr>
          </a:p>
          <a:p>
            <a:r>
              <a:rPr kumimoji="1" lang="en-US" altLang="zh-CN" sz="1600" dirty="0">
                <a:solidFill>
                  <a:schemeClr val="bg1"/>
                </a:solidFill>
                <a:latin typeface="+mj-ea"/>
                <a:ea typeface="+mj-ea"/>
              </a:rPr>
              <a:t>2025</a:t>
            </a:r>
            <a:r>
              <a:rPr kumimoji="1" lang="zh-CN" altLang="en-US" sz="1600" dirty="0">
                <a:solidFill>
                  <a:schemeClr val="bg1"/>
                </a:solidFill>
                <a:latin typeface="+mj-ea"/>
                <a:ea typeface="+mj-ea"/>
              </a:rPr>
              <a:t>年</a:t>
            </a:r>
            <a:r>
              <a:rPr kumimoji="1" lang="en-US" altLang="zh-CN" sz="1600" dirty="0">
                <a:solidFill>
                  <a:schemeClr val="bg1"/>
                </a:solidFill>
                <a:latin typeface="+mj-ea"/>
                <a:ea typeface="+mj-ea"/>
              </a:rPr>
              <a:t>9</a:t>
            </a:r>
            <a:r>
              <a:rPr kumimoji="1" lang="zh-CN" altLang="en-US" sz="1600" dirty="0">
                <a:solidFill>
                  <a:schemeClr val="bg1"/>
                </a:solidFill>
                <a:latin typeface="+mj-ea"/>
                <a:ea typeface="+mj-ea"/>
              </a:rPr>
              <a:t>月</a:t>
            </a:r>
            <a:r>
              <a:rPr kumimoji="1" lang="en-US" altLang="zh-CN" sz="1600" dirty="0">
                <a:solidFill>
                  <a:schemeClr val="bg1"/>
                </a:solidFill>
                <a:latin typeface="+mj-ea"/>
                <a:ea typeface="+mj-ea"/>
              </a:rPr>
              <a:t>15</a:t>
            </a:r>
            <a:r>
              <a:rPr kumimoji="1" lang="zh-CN" altLang="en-US" sz="1600" dirty="0">
                <a:solidFill>
                  <a:schemeClr val="bg1"/>
                </a:solidFill>
                <a:latin typeface="+mj-ea"/>
                <a:ea typeface="+mj-ea"/>
              </a:rPr>
              <a:t>日</a:t>
            </a:r>
            <a:endParaRPr kumimoji="1" lang="zh-CN" altLang="en-US" sz="16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11" name="直线连接符 10"/>
          <p:cNvCxnSpPr/>
          <p:nvPr/>
        </p:nvCxnSpPr>
        <p:spPr>
          <a:xfrm>
            <a:off x="1608060" y="4363295"/>
            <a:ext cx="0" cy="413100"/>
          </a:xfrm>
          <a:prstGeom prst="line">
            <a:avLst/>
          </a:prstGeom>
          <a:ln w="0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5046" y="6430129"/>
            <a:ext cx="747798" cy="139201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700" cy="1270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5"/>
          <p:cNvSpPr txBox="1"/>
          <p:nvPr/>
        </p:nvSpPr>
        <p:spPr>
          <a:xfrm>
            <a:off x="1524000" y="2284527"/>
            <a:ext cx="9144000" cy="15517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一、项目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介绍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形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416520" y="394263"/>
            <a:ext cx="441960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</a:t>
            </a:r>
            <a:r>
              <a:rPr kumimoji="1" lang="zh-CN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介绍</a:t>
            </a:r>
            <a:endParaRPr kumimoji="1" lang="zh-CN" altLang="en-US" sz="3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线连接符 5"/>
          <p:cNvCxnSpPr/>
          <p:nvPr/>
        </p:nvCxnSpPr>
        <p:spPr>
          <a:xfrm>
            <a:off x="514179" y="1101951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780415" y="1486535"/>
            <a:ext cx="10336530" cy="22688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本项目能够在不同进程的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Lua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虚拟机间，共享一个只读的，类似原生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table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的数据结构，从而减少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内存占用。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这个数据结构需要预先由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table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转换而来并写入文件，然后映射到共享内存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访问。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使用例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形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415" y="3755390"/>
            <a:ext cx="5925185" cy="248031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5"/>
          <p:cNvSpPr txBox="1"/>
          <p:nvPr/>
        </p:nvSpPr>
        <p:spPr>
          <a:xfrm>
            <a:off x="1524000" y="2284527"/>
            <a:ext cx="9144000" cy="15517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二、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设计思路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形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416520" y="394263"/>
            <a:ext cx="441960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设计思路</a:t>
            </a:r>
            <a:r>
              <a:rPr kumimoji="1" lang="en-US" altLang="zh-CN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- </a:t>
            </a:r>
            <a:r>
              <a:rPr kumimoji="1" lang="zh-CN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访问</a:t>
            </a:r>
            <a:r>
              <a:rPr kumimoji="1" lang="zh-CN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</a:t>
            </a:r>
            <a:endParaRPr kumimoji="1" lang="zh-CN" altLang="en-US" sz="3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线连接符 5"/>
          <p:cNvCxnSpPr/>
          <p:nvPr/>
        </p:nvCxnSpPr>
        <p:spPr>
          <a:xfrm>
            <a:off x="514179" y="1101951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780415" y="1256030"/>
            <a:ext cx="10336530" cy="37414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所用到的数据结构是一个树形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结构。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对于树上的每个非叶子节点，它的子树代表一个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table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；每条出边都是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table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的一个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key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，指向的子节点为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value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对于叶子节点，它们存储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string/int/double/boolean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类型的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数据。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具体地，数据并不存储在节点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边结构体中；有一段专门存放数据的区域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sData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，结构体只记录自身数据位置相对这个区域起始位置的偏移量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和存储的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数据类型。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形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660" y="4810760"/>
            <a:ext cx="3581400" cy="127635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4045" y="4620260"/>
            <a:ext cx="5324475" cy="14668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416520" y="394263"/>
            <a:ext cx="441960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设计思路</a:t>
            </a:r>
            <a:r>
              <a:rPr kumimoji="1" lang="en-US" altLang="zh-CN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- </a:t>
            </a:r>
            <a:r>
              <a:rPr kumimoji="1" lang="zh-CN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访问</a:t>
            </a:r>
            <a:r>
              <a:rPr kumimoji="1" lang="zh-CN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</a:t>
            </a:r>
            <a:endParaRPr kumimoji="1" lang="zh-CN" altLang="en-US" sz="3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线连接符 5"/>
          <p:cNvCxnSpPr/>
          <p:nvPr/>
        </p:nvCxnSpPr>
        <p:spPr>
          <a:xfrm>
            <a:off x="514179" y="1101951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780415" y="1256030"/>
            <a:ext cx="10336530" cy="37414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其中，对于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string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类型，存储时实际存储进去的是一个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lua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TString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对象，但偏移量指向的仍然是字符串的起始位置。参与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hash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计算的也只有字符串部分。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可以通过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#define strpre offsetof(TString, contents)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这个宏，用字符串的起始地址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-strpre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，从一个字符串获取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TString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对象。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固定了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lua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hash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种子，以保证同一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string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在不同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虚拟机的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hash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相同。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形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416520" y="394263"/>
            <a:ext cx="441960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设计思路</a:t>
            </a:r>
            <a:r>
              <a:rPr kumimoji="1" lang="en-US" altLang="zh-CN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- hash</a:t>
            </a:r>
            <a:endParaRPr kumimoji="1" lang="en-US" altLang="zh-CN" sz="3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线连接符 5"/>
          <p:cNvCxnSpPr/>
          <p:nvPr/>
        </p:nvCxnSpPr>
        <p:spPr>
          <a:xfrm>
            <a:off x="514179" y="1101951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780415" y="1256030"/>
            <a:ext cx="10404475" cy="38176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每个节点都有一个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hash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表，由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key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获取对应的出边；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hash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采用链表法解决冲突，每个节点的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hash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桶数都设置为出边数量。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同时，整个文件有一个全局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hash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表，桶数设置为节点数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*2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，用于保证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sData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中没有重复字符串，减少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内存占用。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所有的节点的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hash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桶都存储在区域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headh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，节点记录自身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hash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桶起始位置相对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headh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偏移量。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全局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hash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桶存储在区域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headgh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形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416520" y="394263"/>
            <a:ext cx="441960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设计思路</a:t>
            </a:r>
            <a:r>
              <a:rPr kumimoji="1" lang="en-US" altLang="zh-CN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- </a:t>
            </a:r>
            <a:r>
              <a:rPr kumimoji="1" lang="zh-CN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</a:t>
            </a:r>
            <a:r>
              <a:rPr kumimoji="1" lang="zh-CN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</a:t>
            </a:r>
            <a:endParaRPr kumimoji="1" lang="zh-CN" altLang="en-US" sz="3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线连接符 5"/>
          <p:cNvCxnSpPr/>
          <p:nvPr/>
        </p:nvCxnSpPr>
        <p:spPr>
          <a:xfrm>
            <a:off x="514179" y="1101951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780415" y="1256030"/>
            <a:ext cx="5547995" cy="37884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在构建文件时，会用到如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下图的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全局结构。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形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415" y="1843405"/>
            <a:ext cx="5067300" cy="4038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416520" y="394263"/>
            <a:ext cx="441960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设计思路</a:t>
            </a:r>
            <a:r>
              <a:rPr kumimoji="1" lang="en-US" altLang="zh-CN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- </a:t>
            </a:r>
            <a:r>
              <a:rPr kumimoji="1" lang="zh-CN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存储到文件</a:t>
            </a:r>
            <a:endParaRPr kumimoji="1" lang="zh-CN" altLang="en-US" sz="3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线连接符 5"/>
          <p:cNvCxnSpPr/>
          <p:nvPr/>
        </p:nvCxnSpPr>
        <p:spPr>
          <a:xfrm>
            <a:off x="514179" y="1101951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780415" y="1256030"/>
            <a:ext cx="10336530" cy="26625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在构建好树形结构之后，把全局结构的指针指向的数据按如下顺序复制到连续的内存中，并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写入文件：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形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655" y="1913255"/>
            <a:ext cx="10144125" cy="23374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416520" y="394263"/>
            <a:ext cx="441960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设计思路</a:t>
            </a:r>
            <a:r>
              <a:rPr kumimoji="1" lang="en-US" altLang="zh-CN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- </a:t>
            </a:r>
            <a:r>
              <a:rPr kumimoji="1" lang="zh-CN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</a:t>
            </a:r>
            <a:r>
              <a:rPr kumimoji="1" lang="zh-CN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</a:t>
            </a:r>
            <a:endParaRPr kumimoji="1" lang="zh-CN" altLang="en-US" sz="3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线连接符 5"/>
          <p:cNvCxnSpPr/>
          <p:nvPr/>
        </p:nvCxnSpPr>
        <p:spPr>
          <a:xfrm>
            <a:off x="514179" y="1101951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形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415" y="1843405"/>
            <a:ext cx="5067300" cy="40386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9835" y="1843405"/>
            <a:ext cx="4229100" cy="31242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03250" y="1101725"/>
            <a:ext cx="10336530" cy="11239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其中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config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是一个和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bData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基本类似的结构，只是把所有的指针都换成了相对起始位置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的偏移量。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416520" y="394263"/>
            <a:ext cx="441960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设计思路</a:t>
            </a:r>
            <a:r>
              <a:rPr kumimoji="1" lang="en-US" altLang="zh-CN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- </a:t>
            </a:r>
            <a:r>
              <a:rPr kumimoji="1" lang="zh-CN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读取文件</a:t>
            </a:r>
            <a:endParaRPr kumimoji="1" lang="zh-CN" altLang="en-US" sz="3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线连接符 5"/>
          <p:cNvCxnSpPr/>
          <p:nvPr/>
        </p:nvCxnSpPr>
        <p:spPr>
          <a:xfrm>
            <a:off x="514179" y="1101951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780415" y="1256030"/>
            <a:ext cx="10923270" cy="32029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读取时，先从文件起始位置读取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config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结构体，然后把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config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对象中的偏移量重新计算为指针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即还原出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bData)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，并记录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path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，文件描述符等一些额外的信息，存储到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accessor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结构体中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形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2206625"/>
            <a:ext cx="6477000" cy="43624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416520" y="394263"/>
            <a:ext cx="441960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设计思路</a:t>
            </a:r>
            <a:r>
              <a:rPr kumimoji="1" lang="en-US" altLang="zh-CN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- </a:t>
            </a:r>
            <a:r>
              <a:rPr kumimoji="1" lang="zh-CN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读取文件</a:t>
            </a:r>
            <a:endParaRPr kumimoji="1" lang="zh-CN" altLang="en-US" sz="3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线连接符 5"/>
          <p:cNvCxnSpPr/>
          <p:nvPr/>
        </p:nvCxnSpPr>
        <p:spPr>
          <a:xfrm>
            <a:off x="514179" y="1101951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780415" y="1256030"/>
            <a:ext cx="10404475" cy="47415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每当创建一个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accessor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时，会插入到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global_state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中的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accessor* acslist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，表示当前进程连接到的所有共享内存。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endParaRPr kumimoji="1"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每当试图生成一个新的短字符串时，除了在已有的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stringtable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检查之外，还需要遍历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acslist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，检查是否有内容相同的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TString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对象。这样保证了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lua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原有的，直接靠地址判断短字符串相等的机制仍然能够正常工作。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endParaRPr kumimoji="1"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accessor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对象不在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allgc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链表上，在调用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lua_close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时才被释放。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形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416520" y="394263"/>
            <a:ext cx="441960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设计思路</a:t>
            </a:r>
            <a:r>
              <a:rPr kumimoji="1" lang="en-US" altLang="zh-CN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- </a:t>
            </a:r>
            <a:r>
              <a:rPr kumimoji="1" lang="zh-CN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访问</a:t>
            </a:r>
            <a:r>
              <a:rPr kumimoji="1" lang="zh-CN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  <a:endParaRPr kumimoji="1" lang="zh-CN" altLang="en-US" sz="3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线连接符 5"/>
          <p:cNvCxnSpPr/>
          <p:nvPr/>
        </p:nvCxnSpPr>
        <p:spPr>
          <a:xfrm>
            <a:off x="514179" y="1101951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780415" y="1256030"/>
            <a:ext cx="10404475" cy="50057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sharedata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是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push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到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Lua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栈上，并用于访问数据的结构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，每个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sharedata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记录一个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accessor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指针、一个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pos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通过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accessor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指针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+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当前节点编号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pos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，能够在树形结构上移动到新的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pos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，并查询相关数据。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当从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sharedata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index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到一个非叶子节点时，会返回该节点对应的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sharedata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。否则返回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对应的值。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形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416520" y="394263"/>
            <a:ext cx="441960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设计思路</a:t>
            </a:r>
            <a:r>
              <a:rPr kumimoji="1" lang="en-US" altLang="zh-CN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- </a:t>
            </a:r>
            <a:r>
              <a:rPr kumimoji="1" lang="zh-CN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其他</a:t>
            </a:r>
            <a:endParaRPr kumimoji="1" lang="zh-CN" altLang="en-US" sz="3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线连接符 5"/>
          <p:cNvCxnSpPr/>
          <p:nvPr/>
        </p:nvCxnSpPr>
        <p:spPr>
          <a:xfrm>
            <a:off x="514179" y="1101951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780415" y="1256030"/>
            <a:ext cx="10404475" cy="9321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另外，还实现了一个用于把目录下所有指定格式的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lua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文件中的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table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数据合并到转为一个以路径为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key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table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工具。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形 4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415" y="2355215"/>
            <a:ext cx="5815330" cy="309372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80415" y="5488940"/>
            <a:ext cx="10404475" cy="9321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然后调用前文所述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build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方法即可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转为文件。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5"/>
          <p:cNvSpPr txBox="1"/>
          <p:nvPr/>
        </p:nvSpPr>
        <p:spPr>
          <a:xfrm>
            <a:off x="1524000" y="2284527"/>
            <a:ext cx="9144000" cy="15517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三、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性能测试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形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形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16520" y="394263"/>
            <a:ext cx="441960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zh-CN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</a:t>
            </a:r>
            <a:r>
              <a:rPr kumimoji="1" lang="zh-CN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占用</a:t>
            </a:r>
            <a:endParaRPr kumimoji="1" lang="zh-CN" altLang="en-US" sz="3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80579" y="1131934"/>
            <a:ext cx="10336696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对于如下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data.lua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huge_data.lua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，构建出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文件的大小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如下：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415" y="1885950"/>
            <a:ext cx="5705475" cy="11334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形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16520" y="394263"/>
            <a:ext cx="441960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zh-CN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</a:t>
            </a:r>
            <a:r>
              <a:rPr kumimoji="1" lang="zh-CN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占用</a:t>
            </a:r>
            <a:endParaRPr kumimoji="1" lang="zh-CN" altLang="en-US" sz="3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69784" y="1049384"/>
            <a:ext cx="10336696" cy="31997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提供了三组程序用于测试内存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占用。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shm_copy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为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从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sharedata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构建出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table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然后进行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遍历，这样做相当于是在共享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TString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对象，且仍然使用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Lua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原生的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table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进行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管理。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shm_read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为直接遍历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sharedata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tb_read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为直接遍历原始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table</a:t>
            </a:r>
            <a:endParaRPr kumimoji="1" lang="en-US" altLang="zh-CN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遍历函数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如下：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620" y="4556760"/>
            <a:ext cx="5095875" cy="166687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形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16520" y="394263"/>
            <a:ext cx="441960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zh-CN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</a:t>
            </a:r>
            <a:r>
              <a:rPr kumimoji="1" lang="zh-CN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占用</a:t>
            </a:r>
            <a:endParaRPr kumimoji="1" lang="zh-CN" altLang="en-US" sz="3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40410" y="1049655"/>
            <a:ext cx="5518150" cy="16452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shm_copy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从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sharedata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构建出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table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然后访问，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shm_read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为直接访问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sharedata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tb_read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为直接访问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table</a:t>
            </a:r>
            <a:endParaRPr kumimoji="1"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6075" y="0"/>
            <a:ext cx="5495925" cy="429577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740410" y="3775710"/>
            <a:ext cx="10270490" cy="25622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上图测试为启动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个进程，数据为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data.lua(693KB)</a:t>
            </a:r>
            <a:endParaRPr kumimoji="1"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对比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shm_read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tb_read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，平均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RSS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优势不明显，平均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PSS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则都小很多，仅为原本的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27%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对比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shm_copy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和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tb_read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，即使是在复制出整个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table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之后，由于共享了数据表中占大多数的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TString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对象，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PSS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仍然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较小。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对比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shm_copy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和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shm_read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，可以发现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table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自身的结构还是占用了较多内存。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形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6475" y="0"/>
            <a:ext cx="6105525" cy="428625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16520" y="394263"/>
            <a:ext cx="441960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zh-CN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</a:t>
            </a:r>
            <a:r>
              <a:rPr kumimoji="1" lang="zh-CN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占用</a:t>
            </a:r>
            <a:endParaRPr kumimoji="1" lang="zh-CN" altLang="en-US" sz="3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79944" y="1049384"/>
            <a:ext cx="10336696" cy="16452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shm_copy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为从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sharedata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构建出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table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然后访问，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shm_read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为直接访问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sharedata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tb_read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为直接访问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table</a:t>
            </a:r>
            <a:endParaRPr kumimoji="1"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80579" y="4368529"/>
            <a:ext cx="10336696" cy="16452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上图测试为启动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个进程，数据为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huge_data.lua(2027KB)</a:t>
            </a:r>
            <a:endParaRPr kumimoji="1"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可以看到，在使用更大的数据表之后，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shm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的内存占用优势明显了很多，平均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PSS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仅为原本的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11.1%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形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16520" y="394263"/>
            <a:ext cx="441960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zh-CN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</a:t>
            </a:r>
            <a:r>
              <a:rPr kumimoji="1" lang="zh-CN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占用</a:t>
            </a:r>
            <a:endParaRPr kumimoji="1" lang="zh-CN" altLang="en-US" sz="3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27264" y="1049384"/>
            <a:ext cx="10336696" cy="16452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shm_copy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为从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sharedata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构建出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table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然后访问，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shm_read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为直接访问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sharedata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tb_read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为直接访问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table</a:t>
            </a:r>
            <a:endParaRPr kumimoji="1"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27899" y="4368529"/>
            <a:ext cx="10336696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上图测试为启动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个进程，数据为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huge_data.lua(2027KB)</a:t>
            </a:r>
            <a:endParaRPr kumimoji="1"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即使是只启动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个进程，在面对较大的数据表时优势仍然明显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(37.5%)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6075" y="0"/>
            <a:ext cx="5495925" cy="427672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形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16520" y="394263"/>
            <a:ext cx="441960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zh-CN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访问速度</a:t>
            </a:r>
            <a:endParaRPr kumimoji="1" lang="zh-CN" altLang="en-US" sz="3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80415" y="1132205"/>
            <a:ext cx="1098042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测试方式为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对于相同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table(data.lua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和构建出的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data.bin)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，遍历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10000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次取平均时间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下图从上至下分别为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sharedata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遍历，普通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table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遍历，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sharedata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构建出的普通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table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遍历所需时间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单位：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s)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80579" y="4499974"/>
            <a:ext cx="10336696" cy="20612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访问速度约为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1.315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0.9576</a:t>
            </a:r>
            <a:endParaRPr kumimoji="1"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可以看到，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sharedata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的访问速度明显比原生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table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要慢；但是使用从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sharedata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构建新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table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的方式，则可以牺牲一些内存占用，换取同样的性能。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00" y="2512695"/>
            <a:ext cx="3364230" cy="148526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0D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0" y="2680382"/>
            <a:ext cx="12191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 YOU</a:t>
            </a:r>
            <a:endParaRPr kumimoji="1" lang="zh-CN" altLang="en-US" sz="6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形 1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97313" y="3723592"/>
            <a:ext cx="1197375" cy="200978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MzA3YmEwZTZiZTcwOGUxNGRjZDIwNzAwMzQ1ZGJkNWEifQ=="/>
</p:tagLst>
</file>

<file path=ppt/theme/theme1.xml><?xml version="1.0" encoding="utf-8"?>
<a:theme xmlns:a="http://schemas.openxmlformats.org/drawingml/2006/main" name="Office 主题​​">
  <a:themeElements>
    <a:clrScheme name="红色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2503</Words>
  <Application>WPS 演示</Application>
  <PresentationFormat>宽屏</PresentationFormat>
  <Paragraphs>134</Paragraphs>
  <Slides>22</Slides>
  <Notes>30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3" baseType="lpstr">
      <vt:lpstr>Arial</vt:lpstr>
      <vt:lpstr>宋体</vt:lpstr>
      <vt:lpstr>Wingdings</vt:lpstr>
      <vt:lpstr>微软雅黑</vt:lpstr>
      <vt:lpstr>Arial Unicode MS</vt:lpstr>
      <vt:lpstr>Arial Black</vt:lpstr>
      <vt:lpstr>黑体</vt:lpstr>
      <vt:lpstr>PingFang SC Regular</vt:lpstr>
      <vt:lpstr>PingFang SC Light</vt:lpstr>
      <vt:lpstr>Consolas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网易集团PPT模板</dc:title>
  <dc:creator>Netease</dc:creator>
  <cp:lastModifiedBy>liulingfeng01</cp:lastModifiedBy>
  <cp:revision>301</cp:revision>
  <dcterms:created xsi:type="dcterms:W3CDTF">2020-10-23T08:28:00Z</dcterms:created>
  <dcterms:modified xsi:type="dcterms:W3CDTF">2025-09-12T10:30:26Z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CBF6EA77B58649A69751C5AC90853E80</vt:lpwstr>
  </property>
  <property fmtid="{D5CDD505-2E9C-101B-9397-08002B2CF9AE}" pid="3" name="KSOProductBuildVer">
    <vt:lpwstr>2052-12.1.0.22529</vt:lpwstr>
  </property>
</Properties>
</file>